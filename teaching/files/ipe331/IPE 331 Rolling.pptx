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handoutMasterIdLst>
    <p:handoutMasterId r:id="rId3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Arimo" panose="020B0604020202020204" charset="0"/>
      <p:regular r:id="rId32"/>
    </p:embeddedFont>
    <p:embeddedFont>
      <p:font typeface="Calibri" panose="020F0502020204030204" pitchFamily="34" charset="0"/>
      <p:regular r:id="rId33"/>
      <p:bold r:id="rId34"/>
      <p:italic r:id="rId35"/>
      <p:boldItalic r:id="rId36"/>
    </p:embeddedFont>
    <p:embeddedFont>
      <p:font typeface="Canva Sans" panose="020B0604020202020204" charset="0"/>
      <p:regular r:id="rId37"/>
    </p:embeddedFont>
    <p:embeddedFont>
      <p:font typeface="Poppins" panose="00000500000000000000" pitchFamily="2" charset="0"/>
      <p:regular r:id="rId38"/>
    </p:embeddedFont>
    <p:embeddedFont>
      <p:font typeface="Poppins Bold" panose="00000800000000000000" charset="0"/>
      <p:regular r:id="rId39"/>
    </p:embeddedFont>
    <p:embeddedFont>
      <p:font typeface="Poppins Italics" panose="020B0604020202020204" charset="0"/>
      <p:regular r:id="rId40"/>
    </p:embeddedFont>
    <p:embeddedFont>
      <p:font typeface="Poppins Medium" panose="00000600000000000000" pitchFamily="2" charset="0"/>
      <p:regular r:id="rId41"/>
    </p:embeddedFont>
    <p:embeddedFont>
      <p:font typeface="Poppins Semi-Bold"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2" d="100"/>
          <a:sy n="72" d="100"/>
        </p:scale>
        <p:origin x="6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A0FF11-C14D-4A61-8F01-B573B82013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6E1E56-A801-43A9-8B49-DB6BCA8FF9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96F3C8-30B6-47EB-A5C5-0D68227ABD1B}" type="datetimeFigureOut">
              <a:rPr lang="en-US" smtClean="0"/>
              <a:t>9/25/2026</a:t>
            </a:fld>
            <a:endParaRPr lang="en-US"/>
          </a:p>
        </p:txBody>
      </p:sp>
      <p:sp>
        <p:nvSpPr>
          <p:cNvPr id="4" name="Footer Placeholder 3">
            <a:extLst>
              <a:ext uri="{FF2B5EF4-FFF2-40B4-BE49-F238E27FC236}">
                <a16:creationId xmlns:a16="http://schemas.microsoft.com/office/drawing/2014/main" id="{AE10DD35-D29B-45D7-835A-EC88779E7F8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E9C1DF-720B-48B3-9D24-171E4511D2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635395-617C-445C-9402-9BD9FDB12B0D}" type="slidenum">
              <a:rPr lang="en-US" smtClean="0"/>
              <a:t>‹#›</a:t>
            </a:fld>
            <a:endParaRPr lang="en-US"/>
          </a:p>
        </p:txBody>
      </p:sp>
    </p:spTree>
    <p:extLst>
      <p:ext uri="{BB962C8B-B14F-4D97-AF65-F5344CB8AC3E}">
        <p14:creationId xmlns:p14="http://schemas.microsoft.com/office/powerpoint/2010/main" val="31561605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FE516-40A3-42AF-B33A-27B0441B8DA6}"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944D3-BB2D-4263-B57D-1AB520AEA302}" type="slidenum">
              <a:rPr lang="en-US" smtClean="0"/>
              <a:t>‹#›</a:t>
            </a:fld>
            <a:endParaRPr lang="en-US"/>
          </a:p>
        </p:txBody>
      </p:sp>
    </p:spTree>
    <p:extLst>
      <p:ext uri="{BB962C8B-B14F-4D97-AF65-F5344CB8AC3E}">
        <p14:creationId xmlns:p14="http://schemas.microsoft.com/office/powerpoint/2010/main" val="8666546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2944D3-BB2D-4263-B57D-1AB520AEA302}" type="slidenum">
              <a:rPr lang="en-US" smtClean="0"/>
              <a:t>6</a:t>
            </a:fld>
            <a:endParaRPr lang="en-US"/>
          </a:p>
        </p:txBody>
      </p:sp>
    </p:spTree>
    <p:extLst>
      <p:ext uri="{BB962C8B-B14F-4D97-AF65-F5344CB8AC3E}">
        <p14:creationId xmlns:p14="http://schemas.microsoft.com/office/powerpoint/2010/main" val="270977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57770DF-FAC4-42AA-B3FC-3FB8FEEC6ADC}"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057309-95DD-4DD7-8D68-2AEF545A2947}"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D0A7C-5ACF-48AA-828F-894145918E7E}"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C21158-B679-4D42-8488-8A396456D437}"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34B8CAF-0D2C-49A4-9064-C2BBF97B1FCB}" type="datetime1">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8552636-E329-45F4-91E8-35DE7209BAA8}" type="datetime1">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45481-06FC-48DB-A0D3-30C0726713DB}" type="datetime1">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E0E188-196A-4136-B0FB-E2BAF519FAE1}"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497D20-BE63-4B5A-ACED-1B7348FA9B7B}" type="datetime1">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16C1C6E-1F1F-43EE-AFB0-E2D501A6F4C4}"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7513D3-9CBA-4F18-963B-3B7DE3F71649}" type="datetime1">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C174A0-8016-4407-AD9A-56EBF45750CD}" type="datetime1">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Freeform 2"/>
          <p:cNvSpPr/>
          <p:nvPr/>
        </p:nvSpPr>
        <p:spPr>
          <a:xfrm>
            <a:off x="8362655" y="486461"/>
            <a:ext cx="1562689" cy="1562689"/>
          </a:xfrm>
          <a:custGeom>
            <a:avLst/>
            <a:gdLst/>
            <a:ahLst/>
            <a:cxnLst/>
            <a:rect l="l" t="t" r="r" b="b"/>
            <a:pathLst>
              <a:path w="1562689" h="1562689">
                <a:moveTo>
                  <a:pt x="0" y="0"/>
                </a:moveTo>
                <a:lnTo>
                  <a:pt x="1562690" y="0"/>
                </a:lnTo>
                <a:lnTo>
                  <a:pt x="1562690" y="1562690"/>
                </a:lnTo>
                <a:lnTo>
                  <a:pt x="0" y="1562690"/>
                </a:lnTo>
                <a:lnTo>
                  <a:pt x="0" y="0"/>
                </a:lnTo>
                <a:close/>
              </a:path>
            </a:pathLst>
          </a:custGeom>
          <a:blipFill>
            <a:blip r:embed="rId2"/>
            <a:stretch>
              <a:fillRect/>
            </a:stretch>
          </a:blipFill>
        </p:spPr>
      </p:sp>
      <p:sp>
        <p:nvSpPr>
          <p:cNvPr id="3" name="TextBox 3"/>
          <p:cNvSpPr txBox="1"/>
          <p:nvPr/>
        </p:nvSpPr>
        <p:spPr>
          <a:xfrm>
            <a:off x="1881004" y="2394267"/>
            <a:ext cx="14525991" cy="1076392"/>
          </a:xfrm>
          <a:prstGeom prst="rect">
            <a:avLst/>
          </a:prstGeom>
        </p:spPr>
        <p:txBody>
          <a:bodyPr lIns="0" tIns="0" rIns="0" bIns="0" rtlCol="0" anchor="t">
            <a:spAutoFit/>
          </a:bodyPr>
          <a:lstStyle/>
          <a:p>
            <a:pPr marL="0" lvl="0" indent="0" algn="ctr">
              <a:lnSpc>
                <a:spcPts val="7200"/>
              </a:lnSpc>
            </a:pPr>
            <a:r>
              <a:rPr lang="en-US" sz="8000" b="1" spc="-400">
                <a:solidFill>
                  <a:srgbClr val="2E2A27"/>
                </a:solidFill>
                <a:latin typeface="Poppins Bold"/>
                <a:ea typeface="Poppins Bold"/>
                <a:cs typeface="Poppins Bold"/>
                <a:sym typeface="Poppins Bold"/>
              </a:rPr>
              <a:t>IPE 331: Production Processes</a:t>
            </a:r>
          </a:p>
        </p:txBody>
      </p:sp>
      <p:sp>
        <p:nvSpPr>
          <p:cNvPr id="4" name="TextBox 4"/>
          <p:cNvSpPr txBox="1"/>
          <p:nvPr/>
        </p:nvSpPr>
        <p:spPr>
          <a:xfrm>
            <a:off x="2433285" y="3575434"/>
            <a:ext cx="13421429" cy="809592"/>
          </a:xfrm>
          <a:prstGeom prst="rect">
            <a:avLst/>
          </a:prstGeom>
        </p:spPr>
        <p:txBody>
          <a:bodyPr lIns="0" tIns="0" rIns="0" bIns="0" rtlCol="0" anchor="t">
            <a:spAutoFit/>
          </a:bodyPr>
          <a:lstStyle/>
          <a:p>
            <a:pPr marL="0" lvl="0" indent="0" algn="ctr">
              <a:lnSpc>
                <a:spcPts val="5400"/>
              </a:lnSpc>
            </a:pPr>
            <a:r>
              <a:rPr lang="en-US" sz="6000" b="1" spc="-300">
                <a:solidFill>
                  <a:srgbClr val="2E2A27"/>
                </a:solidFill>
                <a:latin typeface="Poppins Medium"/>
                <a:ea typeface="Poppins Medium"/>
                <a:cs typeface="Poppins Medium"/>
                <a:sym typeface="Poppins Medium"/>
              </a:rPr>
              <a:t>Rolling</a:t>
            </a:r>
          </a:p>
        </p:txBody>
      </p:sp>
      <p:sp>
        <p:nvSpPr>
          <p:cNvPr id="5" name="TextBox 5"/>
          <p:cNvSpPr txBox="1"/>
          <p:nvPr/>
        </p:nvSpPr>
        <p:spPr>
          <a:xfrm>
            <a:off x="2433285" y="4546951"/>
            <a:ext cx="13421429" cy="1876458"/>
          </a:xfrm>
          <a:prstGeom prst="rect">
            <a:avLst/>
          </a:prstGeom>
        </p:spPr>
        <p:txBody>
          <a:bodyPr lIns="0" tIns="0" rIns="0" bIns="0" rtlCol="0" anchor="t">
            <a:spAutoFit/>
          </a:bodyPr>
          <a:lstStyle/>
          <a:p>
            <a:pPr algn="ctr">
              <a:lnSpc>
                <a:spcPts val="5039"/>
              </a:lnSpc>
            </a:pPr>
            <a:r>
              <a:rPr lang="en-US" sz="4199" b="1" spc="-209">
                <a:solidFill>
                  <a:srgbClr val="2E2A27"/>
                </a:solidFill>
                <a:latin typeface="Poppins Medium"/>
                <a:ea typeface="Poppins Medium"/>
                <a:cs typeface="Poppins Medium"/>
                <a:sym typeface="Poppins Medium"/>
              </a:rPr>
              <a:t>Mostofa Habib Fardin</a:t>
            </a:r>
          </a:p>
          <a:p>
            <a:pPr algn="ctr">
              <a:lnSpc>
                <a:spcPts val="4799"/>
              </a:lnSpc>
            </a:pPr>
            <a:r>
              <a:rPr lang="en-US" sz="3999" b="1" spc="-199">
                <a:solidFill>
                  <a:srgbClr val="2E2A27"/>
                </a:solidFill>
                <a:latin typeface="Poppins Medium"/>
                <a:ea typeface="Poppins Medium"/>
                <a:cs typeface="Poppins Medium"/>
                <a:sym typeface="Poppins Medium"/>
              </a:rPr>
              <a:t>Lecturer, Dept. of IPE, BUET</a:t>
            </a:r>
          </a:p>
          <a:p>
            <a:pPr marL="0" lvl="0" indent="0" algn="ctr">
              <a:lnSpc>
                <a:spcPts val="4799"/>
              </a:lnSpc>
            </a:pPr>
            <a:r>
              <a:rPr lang="en-US" sz="3999" b="1" spc="-199">
                <a:solidFill>
                  <a:srgbClr val="2E2A27"/>
                </a:solidFill>
                <a:latin typeface="Poppins Medium"/>
                <a:ea typeface="Poppins Medium"/>
                <a:cs typeface="Poppins Medium"/>
                <a:sym typeface="Poppins Medium"/>
              </a:rPr>
              <a:t>Email: fardin@ipe.buet.ac.bd</a:t>
            </a:r>
          </a:p>
        </p:txBody>
      </p:sp>
      <p:grpSp>
        <p:nvGrpSpPr>
          <p:cNvPr id="6" name="Group 6"/>
          <p:cNvGrpSpPr/>
          <p:nvPr/>
        </p:nvGrpSpPr>
        <p:grpSpPr>
          <a:xfrm>
            <a:off x="467867" y="6973906"/>
            <a:ext cx="17352266" cy="2480178"/>
            <a:chOff x="0" y="0"/>
            <a:chExt cx="23136355" cy="3306903"/>
          </a:xfrm>
        </p:grpSpPr>
        <p:sp>
          <p:nvSpPr>
            <p:cNvPr id="7" name="TextBox 7"/>
            <p:cNvSpPr txBox="1"/>
            <p:nvPr/>
          </p:nvSpPr>
          <p:spPr>
            <a:xfrm>
              <a:off x="0" y="-19050"/>
              <a:ext cx="3365527" cy="748030"/>
            </a:xfrm>
            <a:prstGeom prst="rect">
              <a:avLst/>
            </a:prstGeom>
          </p:spPr>
          <p:txBody>
            <a:bodyPr lIns="0" tIns="0" rIns="0" bIns="0" rtlCol="0" anchor="t">
              <a:spAutoFit/>
            </a:bodyPr>
            <a:lstStyle/>
            <a:p>
              <a:pPr marL="0" lvl="0" indent="0" algn="l">
                <a:lnSpc>
                  <a:spcPts val="4140"/>
                </a:lnSpc>
              </a:pPr>
              <a:r>
                <a:rPr lang="en-US" sz="3600" b="1" spc="-180">
                  <a:solidFill>
                    <a:srgbClr val="2E2A27"/>
                  </a:solidFill>
                  <a:latin typeface="Poppins Medium"/>
                  <a:ea typeface="Poppins Medium"/>
                  <a:cs typeface="Poppins Medium"/>
                  <a:sym typeface="Poppins Medium"/>
                </a:rPr>
                <a:t>Textbooks: </a:t>
              </a:r>
            </a:p>
          </p:txBody>
        </p:sp>
        <p:sp>
          <p:nvSpPr>
            <p:cNvPr id="8" name="TextBox 8"/>
            <p:cNvSpPr txBox="1"/>
            <p:nvPr/>
          </p:nvSpPr>
          <p:spPr>
            <a:xfrm>
              <a:off x="2781944" y="-79375"/>
              <a:ext cx="20354411" cy="3386278"/>
            </a:xfrm>
            <a:prstGeom prst="rect">
              <a:avLst/>
            </a:prstGeom>
          </p:spPr>
          <p:txBody>
            <a:bodyPr lIns="0" tIns="0" rIns="0" bIns="0" rtlCol="0" anchor="t">
              <a:spAutoFit/>
            </a:bodyPr>
            <a:lstStyle/>
            <a:p>
              <a:pPr marL="777242" lvl="1" indent="-388621" algn="l">
                <a:lnSpc>
                  <a:spcPts val="5040"/>
                </a:lnSpc>
                <a:buAutoNum type="arabicPeriod"/>
              </a:pPr>
              <a:r>
                <a:rPr lang="en-US" sz="3600" spc="-180">
                  <a:solidFill>
                    <a:srgbClr val="2E2A27"/>
                  </a:solidFill>
                  <a:latin typeface="Poppins"/>
                  <a:ea typeface="Poppins"/>
                  <a:cs typeface="Poppins"/>
                  <a:sym typeface="Poppins"/>
                </a:rPr>
                <a:t>Kalpakjian, Serope &amp; Schmid, Steven R. — Manufacturing Engineering and Technology, 6th Edition</a:t>
              </a:r>
            </a:p>
            <a:p>
              <a:pPr marL="777242" lvl="1" indent="-388621" algn="l">
                <a:lnSpc>
                  <a:spcPts val="5040"/>
                </a:lnSpc>
                <a:buAutoNum type="arabicPeriod"/>
              </a:pPr>
              <a:r>
                <a:rPr lang="en-US" sz="3600" spc="-180">
                  <a:solidFill>
                    <a:srgbClr val="2E2A27"/>
                  </a:solidFill>
                  <a:latin typeface="Poppins"/>
                  <a:ea typeface="Poppins"/>
                  <a:cs typeface="Poppins"/>
                  <a:sym typeface="Poppins"/>
                </a:rPr>
                <a:t>Groover, Mikell P. — Fundamentals of Modern Manufacturing: Materials, Processes, and Systems, 4th Edition</a:t>
              </a:r>
            </a:p>
          </p:txBody>
        </p:sp>
      </p:grpSp>
      <p:sp>
        <p:nvSpPr>
          <p:cNvPr id="9" name="Slide Number Placeholder 8">
            <a:extLst>
              <a:ext uri="{FF2B5EF4-FFF2-40B4-BE49-F238E27FC236}">
                <a16:creationId xmlns:a16="http://schemas.microsoft.com/office/drawing/2014/main" id="{EC0D4A53-9C33-4FD7-8D5E-9DC03EC3842F}"/>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Introduction to Rolling</a:t>
            </a:r>
          </a:p>
        </p:txBody>
      </p:sp>
      <p:sp>
        <p:nvSpPr>
          <p:cNvPr id="7" name="TextBox 7"/>
          <p:cNvSpPr txBox="1"/>
          <p:nvPr/>
        </p:nvSpPr>
        <p:spPr>
          <a:xfrm>
            <a:off x="341733" y="1436263"/>
            <a:ext cx="11073537" cy="8011517"/>
          </a:xfrm>
          <a:prstGeom prst="rect">
            <a:avLst/>
          </a:prstGeom>
        </p:spPr>
        <p:txBody>
          <a:bodyPr lIns="0" tIns="0" rIns="0" bIns="0" rtlCol="0" anchor="t">
            <a:spAutoFit/>
          </a:bodyPr>
          <a:lstStyle/>
          <a:p>
            <a:pPr algn="just">
              <a:lnSpc>
                <a:spcPts val="4200"/>
              </a:lnSpc>
              <a:spcBef>
                <a:spcPct val="0"/>
              </a:spcBef>
            </a:pPr>
            <a:r>
              <a:rPr lang="en-US" sz="3000" b="1" spc="-150">
                <a:solidFill>
                  <a:srgbClr val="AC1F25"/>
                </a:solidFill>
                <a:latin typeface="Poppins Bold"/>
                <a:ea typeface="Poppins Bold"/>
                <a:cs typeface="Poppins Bold"/>
                <a:sym typeface="Poppins Bold"/>
              </a:rPr>
              <a:t>Definition:</a:t>
            </a:r>
            <a:r>
              <a:rPr lang="en-US" sz="3000" spc="-150">
                <a:solidFill>
                  <a:srgbClr val="AC1F25"/>
                </a:solidFill>
                <a:latin typeface="Poppins"/>
                <a:ea typeface="Poppins"/>
                <a:cs typeface="Poppins"/>
                <a:sym typeface="Poppins"/>
              </a:rPr>
              <a:t> </a:t>
            </a:r>
            <a:r>
              <a:rPr lang="en-US" sz="3000" spc="-150">
                <a:solidFill>
                  <a:srgbClr val="2E2A27"/>
                </a:solidFill>
                <a:latin typeface="Poppins"/>
                <a:ea typeface="Poppins"/>
                <a:cs typeface="Poppins"/>
                <a:sym typeface="Poppins"/>
              </a:rPr>
              <a:t>Rolling is a bulk deformation process that reduces the thickness or changes the cross-section of a long workpiece by passing it between a pair of rotating rolls that apply compressive force.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Analogous to rolling dough with a rolling pin: the rolls squeeze the material and simultaneously pull it forward through friction</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Rolling accounts for roughly </a:t>
            </a:r>
            <a:r>
              <a:rPr lang="en-US" sz="3000" spc="-150">
                <a:solidFill>
                  <a:srgbClr val="AC1F25"/>
                </a:solidFill>
                <a:latin typeface="Poppins"/>
                <a:ea typeface="Poppins"/>
                <a:cs typeface="Poppins"/>
                <a:sym typeface="Poppins"/>
              </a:rPr>
              <a:t>90% of all metal tonnage</a:t>
            </a:r>
            <a:r>
              <a:rPr lang="en-US" sz="3000" spc="-150">
                <a:solidFill>
                  <a:srgbClr val="2E2A27"/>
                </a:solidFill>
                <a:latin typeface="Poppins"/>
                <a:ea typeface="Poppins"/>
                <a:cs typeface="Poppins"/>
                <a:sym typeface="Poppins"/>
              </a:rPr>
              <a:t> processed by metalworking, making it the highest-volume shaping process in industry</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First developed in the late 1500s; modern rolling mills descend directly from that basic two-roll concept</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The basic operation is </a:t>
            </a:r>
            <a:r>
              <a:rPr lang="en-US" sz="3000" spc="-150">
                <a:solidFill>
                  <a:srgbClr val="AC1F25"/>
                </a:solidFill>
                <a:latin typeface="Poppins"/>
                <a:ea typeface="Poppins"/>
                <a:cs typeface="Poppins"/>
                <a:sym typeface="Poppins"/>
              </a:rPr>
              <a:t>flat rolling</a:t>
            </a:r>
            <a:r>
              <a:rPr lang="en-US" sz="3000" spc="-150">
                <a:solidFill>
                  <a:srgbClr val="2E2A27"/>
                </a:solidFill>
                <a:latin typeface="Poppins"/>
                <a:ea typeface="Poppins"/>
                <a:cs typeface="Poppins"/>
                <a:sym typeface="Poppins"/>
              </a:rPr>
              <a:t>, which produces flat plate and sheet stock. There is also </a:t>
            </a:r>
            <a:r>
              <a:rPr lang="en-US" sz="3000" spc="-150">
                <a:solidFill>
                  <a:srgbClr val="AC1F25"/>
                </a:solidFill>
                <a:latin typeface="Poppins"/>
                <a:ea typeface="Poppins"/>
                <a:cs typeface="Poppins"/>
                <a:sym typeface="Poppins"/>
              </a:rPr>
              <a:t>shape rolling</a:t>
            </a:r>
            <a:r>
              <a:rPr lang="en-US" sz="3000" spc="-150">
                <a:solidFill>
                  <a:srgbClr val="2E2A27"/>
                </a:solidFill>
                <a:latin typeface="Poppins"/>
                <a:ea typeface="Poppins"/>
                <a:cs typeface="Poppins"/>
                <a:sym typeface="Poppins"/>
              </a:rPr>
              <a:t>, which produces profiles</a:t>
            </a:r>
          </a:p>
        </p:txBody>
      </p:sp>
      <p:grpSp>
        <p:nvGrpSpPr>
          <p:cNvPr id="8" name="Group 8"/>
          <p:cNvGrpSpPr/>
          <p:nvPr/>
        </p:nvGrpSpPr>
        <p:grpSpPr>
          <a:xfrm>
            <a:off x="11921948" y="2651351"/>
            <a:ext cx="5952310" cy="6208682"/>
            <a:chOff x="0" y="0"/>
            <a:chExt cx="7936413" cy="8278242"/>
          </a:xfrm>
        </p:grpSpPr>
        <p:sp>
          <p:nvSpPr>
            <p:cNvPr id="9" name="Freeform 9"/>
            <p:cNvSpPr/>
            <p:nvPr/>
          </p:nvSpPr>
          <p:spPr>
            <a:xfrm>
              <a:off x="1660911" y="0"/>
              <a:ext cx="4614592" cy="3158686"/>
            </a:xfrm>
            <a:custGeom>
              <a:avLst/>
              <a:gdLst/>
              <a:ahLst/>
              <a:cxnLst/>
              <a:rect l="l" t="t" r="r" b="b"/>
              <a:pathLst>
                <a:path w="4614592" h="3158686">
                  <a:moveTo>
                    <a:pt x="0" y="0"/>
                  </a:moveTo>
                  <a:lnTo>
                    <a:pt x="4614591" y="0"/>
                  </a:lnTo>
                  <a:lnTo>
                    <a:pt x="4614591" y="3158686"/>
                  </a:lnTo>
                  <a:lnTo>
                    <a:pt x="0" y="3158686"/>
                  </a:lnTo>
                  <a:lnTo>
                    <a:pt x="0" y="0"/>
                  </a:lnTo>
                  <a:close/>
                </a:path>
              </a:pathLst>
            </a:custGeom>
            <a:blipFill>
              <a:blip r:embed="rId3"/>
              <a:stretch>
                <a:fillRect r="-112330" b="-85392"/>
              </a:stretch>
            </a:blipFill>
          </p:spPr>
        </p:sp>
        <p:sp>
          <p:nvSpPr>
            <p:cNvPr id="10" name="Freeform 10"/>
            <p:cNvSpPr/>
            <p:nvPr/>
          </p:nvSpPr>
          <p:spPr>
            <a:xfrm>
              <a:off x="0" y="3755586"/>
              <a:ext cx="7936413" cy="3437459"/>
            </a:xfrm>
            <a:custGeom>
              <a:avLst/>
              <a:gdLst/>
              <a:ahLst/>
              <a:cxnLst/>
              <a:rect l="l" t="t" r="r" b="b"/>
              <a:pathLst>
                <a:path w="7936413" h="3437459">
                  <a:moveTo>
                    <a:pt x="0" y="0"/>
                  </a:moveTo>
                  <a:lnTo>
                    <a:pt x="7936413" y="0"/>
                  </a:lnTo>
                  <a:lnTo>
                    <a:pt x="7936413" y="3437459"/>
                  </a:lnTo>
                  <a:lnTo>
                    <a:pt x="0" y="3437459"/>
                  </a:lnTo>
                  <a:lnTo>
                    <a:pt x="0" y="0"/>
                  </a:lnTo>
                  <a:close/>
                </a:path>
              </a:pathLst>
            </a:custGeom>
            <a:blipFill>
              <a:blip r:embed="rId4"/>
              <a:stretch>
                <a:fillRect/>
              </a:stretch>
            </a:blipFill>
          </p:spPr>
        </p:sp>
        <p:sp>
          <p:nvSpPr>
            <p:cNvPr id="11" name="TextBox 11"/>
            <p:cNvSpPr txBox="1"/>
            <p:nvPr/>
          </p:nvSpPr>
          <p:spPr>
            <a:xfrm>
              <a:off x="2595269" y="7727322"/>
              <a:ext cx="3052248" cy="550920"/>
            </a:xfrm>
            <a:prstGeom prst="rect">
              <a:avLst/>
            </a:prstGeom>
          </p:spPr>
          <p:txBody>
            <a:bodyPr wrap="square" lIns="0" tIns="0" rIns="0" bIns="0" rtlCol="0" anchor="t">
              <a:spAutoFit/>
            </a:bodyPr>
            <a:lstStyle/>
            <a:p>
              <a:pPr algn="ctr">
                <a:lnSpc>
                  <a:spcPts val="3359"/>
                </a:lnSpc>
              </a:pPr>
              <a:r>
                <a:rPr lang="en-US" sz="2400" i="1" spc="-120" dirty="0">
                  <a:solidFill>
                    <a:srgbClr val="2E2A27"/>
                  </a:solidFill>
                  <a:latin typeface="Poppins Italics"/>
                  <a:ea typeface="Poppins Italics"/>
                  <a:cs typeface="Poppins Italics"/>
                  <a:sym typeface="Poppins Italics"/>
                </a:rPr>
                <a:t>Figure 1 : Rolling</a:t>
              </a:r>
            </a:p>
          </p:txBody>
        </p:sp>
      </p:grpSp>
      <p:sp>
        <p:nvSpPr>
          <p:cNvPr id="12" name="TextBox 12"/>
          <p:cNvSpPr txBox="1"/>
          <p:nvPr/>
        </p:nvSpPr>
        <p:spPr>
          <a:xfrm>
            <a:off x="17833131" y="9673931"/>
            <a:ext cx="152400" cy="200025"/>
          </a:xfrm>
          <a:prstGeom prst="rect">
            <a:avLst/>
          </a:prstGeom>
        </p:spPr>
        <p:txBody>
          <a:bodyPr wrap="none" lIns="0" tIns="0" rIns="0" bIns="0" rtlCol="0" anchor="t">
            <a:spAutoFit/>
          </a:bodyPr>
          <a:lstStyle/>
          <a:p>
            <a:pPr algn="ctr">
              <a:lnSpc>
                <a:spcPts val="2800"/>
              </a:lnSpc>
              <a:spcBef>
                <a:spcPct val="0"/>
              </a:spcBef>
            </a:pPr>
            <a:r>
              <a:rPr lang="en-US" sz="2000" dirty="0">
                <a:solidFill>
                  <a:srgbClr val="000000"/>
                </a:solidFill>
                <a:latin typeface="Canva Sans"/>
                <a:ea typeface="Canva Sans"/>
                <a:cs typeface="Canva Sans"/>
                <a:sym typeface="Canva Sans"/>
              </a:rPr>
              <a:t>2</a:t>
            </a:r>
          </a:p>
        </p:txBody>
      </p:sp>
      <p:sp>
        <p:nvSpPr>
          <p:cNvPr id="13" name="Slide Number Placeholder 12">
            <a:extLst>
              <a:ext uri="{FF2B5EF4-FFF2-40B4-BE49-F238E27FC236}">
                <a16:creationId xmlns:a16="http://schemas.microsoft.com/office/drawing/2014/main" id="{2481B8C9-1D23-4A98-A4CF-979EBE5C5E3C}"/>
              </a:ext>
            </a:extLst>
          </p:cNvP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Plate vs. Sheet</a:t>
            </a:r>
          </a:p>
        </p:txBody>
      </p:sp>
      <p:sp>
        <p:nvSpPr>
          <p:cNvPr id="7" name="TextBox 7"/>
          <p:cNvSpPr txBox="1"/>
          <p:nvPr/>
        </p:nvSpPr>
        <p:spPr>
          <a:xfrm>
            <a:off x="341733" y="1490764"/>
            <a:ext cx="17438734" cy="5877653"/>
          </a:xfrm>
          <a:prstGeom prst="rect">
            <a:avLst/>
          </a:prstGeom>
        </p:spPr>
        <p:txBody>
          <a:bodyPr lIns="0" tIns="0" rIns="0" bIns="0" rtlCol="0" anchor="t">
            <a:spAutoFit/>
          </a:bodyPr>
          <a:lstStyle/>
          <a:p>
            <a:pPr algn="just">
              <a:lnSpc>
                <a:spcPts val="4200"/>
              </a:lnSpc>
              <a:spcBef>
                <a:spcPct val="0"/>
              </a:spcBef>
            </a:pPr>
            <a:r>
              <a:rPr lang="en-US" sz="3000" spc="-150">
                <a:solidFill>
                  <a:srgbClr val="2E2A27"/>
                </a:solidFill>
                <a:latin typeface="Poppins"/>
                <a:ea typeface="Poppins"/>
                <a:cs typeface="Poppins"/>
                <a:sym typeface="Poppins"/>
              </a:rPr>
              <a:t>Plates and sheets are the two flat-rolled product categories, distinguished by thickness.</a:t>
            </a:r>
          </a:p>
          <a:p>
            <a:pPr marL="647700" lvl="1" indent="-323850" algn="l">
              <a:lnSpc>
                <a:spcPts val="4200"/>
              </a:lnSpc>
              <a:buFont typeface="Arial"/>
              <a:buChar char="•"/>
            </a:pPr>
            <a:r>
              <a:rPr lang="en-US" sz="3000" b="1" spc="-150">
                <a:solidFill>
                  <a:srgbClr val="AC1F25"/>
                </a:solidFill>
                <a:latin typeface="Poppins Bold"/>
                <a:ea typeface="Poppins Bold"/>
                <a:cs typeface="Poppins Bold"/>
                <a:sym typeface="Poppins Bold"/>
              </a:rPr>
              <a:t>Plate:</a:t>
            </a:r>
            <a:r>
              <a:rPr lang="en-US" sz="3000" spc="-150">
                <a:solidFill>
                  <a:srgbClr val="AC1F25"/>
                </a:solidFill>
                <a:latin typeface="Poppins"/>
                <a:ea typeface="Poppins"/>
                <a:cs typeface="Poppins"/>
                <a:sym typeface="Poppins"/>
              </a:rPr>
              <a:t> </a:t>
            </a:r>
            <a:r>
              <a:rPr lang="en-US" sz="3000" spc="-150">
                <a:solidFill>
                  <a:srgbClr val="2E2A27"/>
                </a:solidFill>
                <a:latin typeface="Poppins"/>
                <a:ea typeface="Poppins"/>
                <a:cs typeface="Poppins"/>
                <a:sym typeface="Poppins"/>
              </a:rPr>
              <a:t>thickness greater than 6 mm. Used for structural applications where load-bearing capacity matters more than formability</a:t>
            </a:r>
          </a:p>
          <a:p>
            <a:pPr marL="1295400" lvl="2" indent="-431800" algn="l">
              <a:lnSpc>
                <a:spcPts val="4200"/>
              </a:lnSpc>
              <a:buFont typeface="Arial"/>
              <a:buChar char="⚬"/>
            </a:pPr>
            <a:r>
              <a:rPr lang="en-US" sz="3000" spc="-150">
                <a:solidFill>
                  <a:srgbClr val="2E2A27"/>
                </a:solidFill>
                <a:latin typeface="Poppins"/>
                <a:ea typeface="Poppins"/>
                <a:cs typeface="Poppins"/>
                <a:sym typeface="Poppins"/>
              </a:rPr>
              <a:t>Boiler supports: up to 0.3 m thick, </a:t>
            </a:r>
          </a:p>
          <a:p>
            <a:pPr marL="1295400" lvl="2" indent="-431800" algn="l">
              <a:lnSpc>
                <a:spcPts val="4200"/>
              </a:lnSpc>
              <a:buFont typeface="Arial"/>
              <a:buChar char="⚬"/>
            </a:pPr>
            <a:r>
              <a:rPr lang="en-US" sz="3000" spc="-150">
                <a:solidFill>
                  <a:srgbClr val="2E2A27"/>
                </a:solidFill>
                <a:latin typeface="Poppins"/>
                <a:ea typeface="Poppins"/>
                <a:cs typeface="Poppins"/>
                <a:sym typeface="Poppins"/>
              </a:rPr>
              <a:t>reactor vessels: around 150 mm, </a:t>
            </a:r>
          </a:p>
          <a:p>
            <a:pPr marL="1295400" lvl="2" indent="-431800" algn="l">
              <a:lnSpc>
                <a:spcPts val="4200"/>
              </a:lnSpc>
              <a:buFont typeface="Arial"/>
              <a:buChar char="⚬"/>
            </a:pPr>
            <a:r>
              <a:rPr lang="en-US" sz="3000" spc="-150">
                <a:solidFill>
                  <a:srgbClr val="2E2A27"/>
                </a:solidFill>
                <a:latin typeface="Poppins"/>
                <a:ea typeface="Poppins"/>
                <a:cs typeface="Poppins"/>
                <a:sym typeface="Poppins"/>
              </a:rPr>
              <a:t>battleship and tank armor: 100–125 mm</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Sheet: </a:t>
            </a:r>
            <a:r>
              <a:rPr lang="en-US" sz="3000" spc="-150">
                <a:solidFill>
                  <a:srgbClr val="2E2A27"/>
                </a:solidFill>
                <a:latin typeface="Poppins"/>
                <a:ea typeface="Poppins"/>
                <a:cs typeface="Poppins"/>
                <a:sym typeface="Poppins"/>
              </a:rPr>
              <a:t>thickness less than 6 mm. Supplied as flat pieces or as coiled strip for further processing</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Commercial aircraft fuselage skin: minimum 1 mm aluminum alloy sheet, </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aluminum foil (the thinnest rolled product in common use): 0.008 mm</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A sheet metal gauge is a standardized number system used to measure the thickness of sheet metal.</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id="9" name="Slide Number Placeholder 8">
            <a:extLst>
              <a:ext uri="{FF2B5EF4-FFF2-40B4-BE49-F238E27FC236}">
                <a16:creationId xmlns:a16="http://schemas.microsoft.com/office/drawing/2014/main" id="{A7CD8FDD-535C-4156-A169-96C1DAEB1726}"/>
              </a:ext>
            </a:extLst>
          </p:cNvPr>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3885421" y="4284569"/>
            <a:ext cx="10270817" cy="4531998"/>
          </a:xfrm>
          <a:custGeom>
            <a:avLst/>
            <a:gdLst/>
            <a:ahLst/>
            <a:cxnLst/>
            <a:rect l="l" t="t" r="r" b="b"/>
            <a:pathLst>
              <a:path w="10270817" h="4531998">
                <a:moveTo>
                  <a:pt x="0" y="0"/>
                </a:moveTo>
                <a:lnTo>
                  <a:pt x="10270817" y="0"/>
                </a:lnTo>
                <a:lnTo>
                  <a:pt x="10270817" y="4531998"/>
                </a:lnTo>
                <a:lnTo>
                  <a:pt x="0" y="4531998"/>
                </a:lnTo>
                <a:lnTo>
                  <a:pt x="0" y="0"/>
                </a:lnTo>
                <a:close/>
              </a:path>
            </a:pathLst>
          </a:custGeom>
          <a:blipFill>
            <a:blip r:embed="rId3"/>
            <a:stretch>
              <a:fillRect/>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The Rolls</a:t>
            </a:r>
          </a:p>
        </p:txBody>
      </p:sp>
      <p:sp>
        <p:nvSpPr>
          <p:cNvPr id="8" name="TextBox 8"/>
          <p:cNvSpPr txBox="1"/>
          <p:nvPr/>
        </p:nvSpPr>
        <p:spPr>
          <a:xfrm>
            <a:off x="341733" y="1436263"/>
            <a:ext cx="17358194" cy="2676856"/>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Function: </a:t>
            </a:r>
            <a:r>
              <a:rPr lang="en-US" sz="3000" spc="-150">
                <a:solidFill>
                  <a:srgbClr val="2E2A27"/>
                </a:solidFill>
                <a:latin typeface="Poppins"/>
                <a:ea typeface="Poppins"/>
                <a:cs typeface="Poppins"/>
                <a:sym typeface="Poppins"/>
              </a:rPr>
              <a:t>Rotating rolls perform two functions simultaneously: </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they </a:t>
            </a:r>
            <a:r>
              <a:rPr lang="en-US" sz="3000" spc="-150">
                <a:solidFill>
                  <a:srgbClr val="AC1F25"/>
                </a:solidFill>
                <a:latin typeface="Poppins"/>
                <a:ea typeface="Poppins"/>
                <a:cs typeface="Poppins"/>
                <a:sym typeface="Poppins"/>
              </a:rPr>
              <a:t>pull the workpiece</a:t>
            </a:r>
            <a:r>
              <a:rPr lang="en-US" sz="3000" spc="-150">
                <a:solidFill>
                  <a:srgbClr val="2E2A27"/>
                </a:solidFill>
                <a:latin typeface="Poppins"/>
                <a:ea typeface="Poppins"/>
                <a:cs typeface="Poppins"/>
                <a:sym typeface="Poppins"/>
              </a:rPr>
              <a:t> into the roll gap by friction, </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and they </a:t>
            </a:r>
            <a:r>
              <a:rPr lang="en-US" sz="3000" spc="-150">
                <a:solidFill>
                  <a:srgbClr val="AC1F25"/>
                </a:solidFill>
                <a:latin typeface="Poppins"/>
                <a:ea typeface="Poppins"/>
                <a:cs typeface="Poppins"/>
                <a:sym typeface="Poppins"/>
              </a:rPr>
              <a:t>compress</a:t>
            </a:r>
            <a:r>
              <a:rPr lang="en-US" sz="3000" spc="-150">
                <a:solidFill>
                  <a:srgbClr val="2E2A27"/>
                </a:solidFill>
                <a:latin typeface="Poppins"/>
                <a:ea typeface="Poppins"/>
                <a:cs typeface="Poppins"/>
                <a:sym typeface="Poppins"/>
              </a:rPr>
              <a:t> it to reduce the cross-section.</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Friction at the roll-workpiece interface is not incidental; it is the mechanism that feeds the strip through. No friction, no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id="10" name="TextBox 10"/>
          <p:cNvSpPr txBox="1"/>
          <p:nvPr/>
        </p:nvSpPr>
        <p:spPr>
          <a:xfrm>
            <a:off x="6814757" y="8921342"/>
            <a:ext cx="4658486"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2 : Rolls in rolling operation. </a:t>
            </a:r>
          </a:p>
        </p:txBody>
      </p:sp>
      <p:sp>
        <p:nvSpPr>
          <p:cNvPr id="11" name="Slide Number Placeholder 10">
            <a:extLst>
              <a:ext uri="{FF2B5EF4-FFF2-40B4-BE49-F238E27FC236}">
                <a16:creationId xmlns:a16="http://schemas.microsoft.com/office/drawing/2014/main" id="{1C75E3FE-A1D9-40F0-A47B-E54DD5A98583}"/>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1625335" y="2058196"/>
            <a:ext cx="15037330" cy="7621459"/>
          </a:xfrm>
          <a:custGeom>
            <a:avLst/>
            <a:gdLst/>
            <a:ahLst/>
            <a:cxnLst/>
            <a:rect l="l" t="t" r="r" b="b"/>
            <a:pathLst>
              <a:path w="15037330" h="7621459">
                <a:moveTo>
                  <a:pt x="0" y="0"/>
                </a:moveTo>
                <a:lnTo>
                  <a:pt x="15037330" y="0"/>
                </a:lnTo>
                <a:lnTo>
                  <a:pt x="15037330" y="7621459"/>
                </a:lnTo>
                <a:lnTo>
                  <a:pt x="0" y="7621459"/>
                </a:lnTo>
                <a:lnTo>
                  <a:pt x="0" y="0"/>
                </a:lnTo>
                <a:close/>
              </a:path>
            </a:pathLst>
          </a:custGeom>
          <a:blipFill>
            <a:blip r:embed="rId3"/>
            <a:stretch>
              <a:fillRect/>
            </a:stretch>
          </a:blipFill>
        </p:spPr>
      </p:sp>
      <p:grpSp>
        <p:nvGrpSpPr>
          <p:cNvPr id="7" name="Group 7"/>
          <p:cNvGrpSpPr/>
          <p:nvPr/>
        </p:nvGrpSpPr>
        <p:grpSpPr>
          <a:xfrm>
            <a:off x="12787384" y="6393145"/>
            <a:ext cx="3181850" cy="277446"/>
            <a:chOff x="0" y="0"/>
            <a:chExt cx="838018" cy="73072"/>
          </a:xfrm>
        </p:grpSpPr>
        <p:sp>
          <p:nvSpPr>
            <p:cNvPr id="8" name="Freeform 8"/>
            <p:cNvSpPr/>
            <p:nvPr/>
          </p:nvSpPr>
          <p:spPr>
            <a:xfrm>
              <a:off x="0" y="0"/>
              <a:ext cx="838018" cy="73072"/>
            </a:xfrm>
            <a:custGeom>
              <a:avLst/>
              <a:gdLst/>
              <a:ahLst/>
              <a:cxnLst/>
              <a:rect l="l" t="t" r="r" b="b"/>
              <a:pathLst>
                <a:path w="838018" h="73072">
                  <a:moveTo>
                    <a:pt x="0" y="0"/>
                  </a:moveTo>
                  <a:lnTo>
                    <a:pt x="838018" y="0"/>
                  </a:lnTo>
                  <a:lnTo>
                    <a:pt x="838018" y="73072"/>
                  </a:lnTo>
                  <a:lnTo>
                    <a:pt x="0" y="73072"/>
                  </a:lnTo>
                  <a:close/>
                </a:path>
              </a:pathLst>
            </a:custGeom>
            <a:solidFill>
              <a:srgbClr val="F6F3EE"/>
            </a:solidFill>
          </p:spPr>
        </p:sp>
        <p:sp>
          <p:nvSpPr>
            <p:cNvPr id="9" name="TextBox 9"/>
            <p:cNvSpPr txBox="1"/>
            <p:nvPr/>
          </p:nvSpPr>
          <p:spPr>
            <a:xfrm>
              <a:off x="0" y="-47625"/>
              <a:ext cx="838018" cy="120697"/>
            </a:xfrm>
            <a:prstGeom prst="rect">
              <a:avLst/>
            </a:prstGeom>
          </p:spPr>
          <p:txBody>
            <a:bodyPr lIns="50800" tIns="50800" rIns="50800" bIns="50800" rtlCol="0" anchor="ctr"/>
            <a:lstStyle/>
            <a:p>
              <a:pPr algn="ctr">
                <a:lnSpc>
                  <a:spcPts val="2800"/>
                </a:lnSpc>
              </a:pPr>
              <a:endParaRPr/>
            </a:p>
          </p:txBody>
        </p:sp>
      </p:grpSp>
      <p:sp>
        <p:nvSpPr>
          <p:cNvPr id="10" name="TextBox 10"/>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Mill Configurations Overview</a:t>
            </a:r>
          </a:p>
        </p:txBody>
      </p:sp>
      <p:sp>
        <p:nvSpPr>
          <p:cNvPr id="11" name="TextBox 11"/>
          <p:cNvSpPr txBox="1"/>
          <p:nvPr/>
        </p:nvSpPr>
        <p:spPr>
          <a:xfrm>
            <a:off x="341733" y="1436263"/>
            <a:ext cx="17358194" cy="542991"/>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Five standard rolling mill arrangements, distinguished by roll count and stand sequencing:</a:t>
            </a:r>
          </a:p>
        </p:txBody>
      </p:sp>
      <p:sp>
        <p:nvSpPr>
          <p:cNvPr id="12" name="TextBox 12"/>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13" name="TextBox 13"/>
          <p:cNvSpPr txBox="1"/>
          <p:nvPr/>
        </p:nvSpPr>
        <p:spPr>
          <a:xfrm>
            <a:off x="6742741" y="9689180"/>
            <a:ext cx="4802518"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3 : Rolling Mill Configurations</a:t>
            </a:r>
          </a:p>
        </p:txBody>
      </p:sp>
      <p:sp>
        <p:nvSpPr>
          <p:cNvPr id="14" name="Slide Number Placeholder 13">
            <a:extLst>
              <a:ext uri="{FF2B5EF4-FFF2-40B4-BE49-F238E27FC236}">
                <a16:creationId xmlns:a16="http://schemas.microsoft.com/office/drawing/2014/main" id="{1865C1C5-F64F-400E-A85C-7D8F8FABADF4}"/>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3"/>
            <a:stretch>
              <a:fillRect/>
            </a:stretch>
          </a:blipFill>
        </p:spPr>
      </p:sp>
      <p:sp>
        <p:nvSpPr>
          <p:cNvPr id="6" name="Freeform 6"/>
          <p:cNvSpPr/>
          <p:nvPr/>
        </p:nvSpPr>
        <p:spPr>
          <a:xfrm>
            <a:off x="1074637" y="2150704"/>
            <a:ext cx="16184663" cy="6691634"/>
          </a:xfrm>
          <a:custGeom>
            <a:avLst/>
            <a:gdLst/>
            <a:ahLst/>
            <a:cxnLst/>
            <a:rect l="l" t="t" r="r" b="b"/>
            <a:pathLst>
              <a:path w="16184663" h="6691634">
                <a:moveTo>
                  <a:pt x="0" y="0"/>
                </a:moveTo>
                <a:lnTo>
                  <a:pt x="16184663" y="0"/>
                </a:lnTo>
                <a:lnTo>
                  <a:pt x="16184663" y="6691634"/>
                </a:lnTo>
                <a:lnTo>
                  <a:pt x="0" y="6691634"/>
                </a:lnTo>
                <a:lnTo>
                  <a:pt x="0" y="0"/>
                </a:lnTo>
                <a:close/>
              </a:path>
            </a:pathLst>
          </a:custGeom>
          <a:blipFill>
            <a:blip r:embed="rId4"/>
            <a:stretch>
              <a:fillRect t="-14790"/>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Rolling classification</a:t>
            </a:r>
          </a:p>
        </p:txBody>
      </p:sp>
      <p:sp>
        <p:nvSpPr>
          <p:cNvPr id="8" name="TextBox 8"/>
          <p:cNvSpPr txBox="1"/>
          <p:nvPr/>
        </p:nvSpPr>
        <p:spPr>
          <a:xfrm>
            <a:off x="341733" y="1436263"/>
            <a:ext cx="17358194" cy="542991"/>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Rolling is classified two ways: </a:t>
            </a:r>
            <a:r>
              <a:rPr lang="en-US" sz="3000" spc="-150">
                <a:solidFill>
                  <a:srgbClr val="AC1F25"/>
                </a:solidFill>
                <a:latin typeface="Poppins"/>
                <a:ea typeface="Poppins"/>
                <a:cs typeface="Poppins"/>
                <a:sym typeface="Poppins"/>
              </a:rPr>
              <a:t>by workpiece geometry, and by working temperature</a:t>
            </a:r>
            <a:r>
              <a:rPr lang="en-US" sz="3000" spc="-150">
                <a:solidFill>
                  <a:srgbClr val="2E2A27"/>
                </a:solidFill>
                <a:latin typeface="Poppins"/>
                <a:ea typeface="Poppins"/>
                <a:cs typeface="Poppins"/>
                <a:sym typeface="Poppins"/>
              </a:rPr>
              <a:t>.</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id="10" name="TextBox 10"/>
          <p:cNvSpPr txBox="1"/>
          <p:nvPr/>
        </p:nvSpPr>
        <p:spPr>
          <a:xfrm>
            <a:off x="7090088" y="9012588"/>
            <a:ext cx="4339911" cy="424749"/>
          </a:xfrm>
          <a:prstGeom prst="rect">
            <a:avLst/>
          </a:prstGeom>
        </p:spPr>
        <p:txBody>
          <a:bodyPr wrap="square" lIns="0" tIns="0" rIns="0" bIns="0" rtlCol="0" anchor="t">
            <a:spAutoFit/>
          </a:bodyPr>
          <a:lstStyle/>
          <a:p>
            <a:pPr algn="ctr">
              <a:lnSpc>
                <a:spcPts val="3359"/>
              </a:lnSpc>
            </a:pPr>
            <a:r>
              <a:rPr lang="en-US" sz="2400" i="1" spc="-120" dirty="0">
                <a:solidFill>
                  <a:srgbClr val="2E2A27"/>
                </a:solidFill>
                <a:latin typeface="Poppins Italics"/>
                <a:ea typeface="Poppins Italics"/>
                <a:cs typeface="Poppins Italics"/>
                <a:sym typeface="Poppins Italics"/>
              </a:rPr>
              <a:t>Figure 4 : Rolling Classification</a:t>
            </a:r>
          </a:p>
        </p:txBody>
      </p:sp>
      <p:sp>
        <p:nvSpPr>
          <p:cNvPr id="11" name="Slide Number Placeholder 10">
            <a:extLst>
              <a:ext uri="{FF2B5EF4-FFF2-40B4-BE49-F238E27FC236}">
                <a16:creationId xmlns:a16="http://schemas.microsoft.com/office/drawing/2014/main" id="{0E722A2B-0A66-4829-B08A-38571599FE5E}"/>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9436151" cy="1353667"/>
            <a:chOff x="0" y="0"/>
            <a:chExt cx="2485241" cy="356521"/>
          </a:xfrm>
        </p:grpSpPr>
        <p:sp>
          <p:nvSpPr>
            <p:cNvPr id="3" name="Freeform 3"/>
            <p:cNvSpPr/>
            <p:nvPr/>
          </p:nvSpPr>
          <p:spPr>
            <a:xfrm>
              <a:off x="0" y="0"/>
              <a:ext cx="2485241" cy="356521"/>
            </a:xfrm>
            <a:custGeom>
              <a:avLst/>
              <a:gdLst/>
              <a:ahLst/>
              <a:cxnLst/>
              <a:rect l="l" t="t" r="r" b="b"/>
              <a:pathLst>
                <a:path w="2485241" h="356521">
                  <a:moveTo>
                    <a:pt x="0" y="0"/>
                  </a:moveTo>
                  <a:lnTo>
                    <a:pt x="2485241" y="0"/>
                  </a:lnTo>
                  <a:lnTo>
                    <a:pt x="2485241" y="356521"/>
                  </a:lnTo>
                  <a:lnTo>
                    <a:pt x="0" y="356521"/>
                  </a:lnTo>
                  <a:close/>
                </a:path>
              </a:pathLst>
            </a:custGeom>
            <a:solidFill>
              <a:srgbClr val="A8A29C"/>
            </a:solidFill>
          </p:spPr>
        </p:sp>
        <p:sp>
          <p:nvSpPr>
            <p:cNvPr id="4" name="TextBox 4"/>
            <p:cNvSpPr txBox="1"/>
            <p:nvPr/>
          </p:nvSpPr>
          <p:spPr>
            <a:xfrm>
              <a:off x="0" y="-57150"/>
              <a:ext cx="2485241"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9436151" y="267241"/>
            <a:ext cx="8363007" cy="8991059"/>
          </a:xfrm>
          <a:custGeom>
            <a:avLst/>
            <a:gdLst/>
            <a:ahLst/>
            <a:cxnLst/>
            <a:rect l="l" t="t" r="r" b="b"/>
            <a:pathLst>
              <a:path w="8363007" h="8991059">
                <a:moveTo>
                  <a:pt x="0" y="0"/>
                </a:moveTo>
                <a:lnTo>
                  <a:pt x="8363007" y="0"/>
                </a:lnTo>
                <a:lnTo>
                  <a:pt x="8363007" y="8991059"/>
                </a:lnTo>
                <a:lnTo>
                  <a:pt x="0" y="8991059"/>
                </a:lnTo>
                <a:lnTo>
                  <a:pt x="0" y="0"/>
                </a:lnTo>
                <a:close/>
              </a:path>
            </a:pathLst>
          </a:custGeom>
          <a:blipFill>
            <a:blip r:embed="rId3"/>
            <a:stretch>
              <a:fillRect l="-4146" t="-5121" r="-3099" b="-2631"/>
            </a:stretch>
          </a:blipFill>
        </p:spPr>
      </p:sp>
      <p:sp>
        <p:nvSpPr>
          <p:cNvPr id="7" name="TextBox 7"/>
          <p:cNvSpPr txBox="1"/>
          <p:nvPr/>
        </p:nvSpPr>
        <p:spPr>
          <a:xfrm>
            <a:off x="1366123" y="229191"/>
            <a:ext cx="7277499" cy="971484"/>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Flat-Rolling and Shape-Rolling Process Flow</a:t>
            </a:r>
          </a:p>
        </p:txBody>
      </p:sp>
      <p:sp>
        <p:nvSpPr>
          <p:cNvPr id="8" name="TextBox 8"/>
          <p:cNvSpPr txBox="1"/>
          <p:nvPr/>
        </p:nvSpPr>
        <p:spPr>
          <a:xfrm>
            <a:off x="9436151" y="9224426"/>
            <a:ext cx="8173593" cy="843783"/>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5 : Schematic outline of various flat-rolling and shape-rolling processes. </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10" name="TextBox 10"/>
          <p:cNvSpPr txBox="1"/>
          <p:nvPr/>
        </p:nvSpPr>
        <p:spPr>
          <a:xfrm>
            <a:off x="341733" y="3223588"/>
            <a:ext cx="8802267" cy="4277254"/>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Overview of how continuously cast or ingot-cast stock is broken down into blooms, billets, and slabs, then rolled downstream into final products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Slab → plate, skelp, hot strip → cold strip, welded pipe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Billet → bars, rods → wire, seamless pipe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Bloom → structural shapes, rails</a:t>
            </a:r>
          </a:p>
        </p:txBody>
      </p:sp>
      <p:sp>
        <p:nvSpPr>
          <p:cNvPr id="11" name="Slide Number Placeholder 10">
            <a:extLst>
              <a:ext uri="{FF2B5EF4-FFF2-40B4-BE49-F238E27FC236}">
                <a16:creationId xmlns:a16="http://schemas.microsoft.com/office/drawing/2014/main" id="{4DDBA5A0-EDB1-4C6F-B654-3002BAB5C5CB}"/>
              </a:ext>
            </a:extLst>
          </p:cNvPr>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3145810" y="4284569"/>
            <a:ext cx="11907308" cy="3746065"/>
          </a:xfrm>
          <a:custGeom>
            <a:avLst/>
            <a:gdLst/>
            <a:ahLst/>
            <a:cxnLst/>
            <a:rect l="l" t="t" r="r" b="b"/>
            <a:pathLst>
              <a:path w="11907308" h="3746065">
                <a:moveTo>
                  <a:pt x="0" y="0"/>
                </a:moveTo>
                <a:lnTo>
                  <a:pt x="11907308" y="0"/>
                </a:lnTo>
                <a:lnTo>
                  <a:pt x="11907308" y="3746064"/>
                </a:lnTo>
                <a:lnTo>
                  <a:pt x="0" y="3746064"/>
                </a:lnTo>
                <a:lnTo>
                  <a:pt x="0" y="0"/>
                </a:lnTo>
                <a:close/>
              </a:path>
            </a:pathLst>
          </a:custGeom>
          <a:blipFill>
            <a:blip r:embed="rId3"/>
            <a:stretch>
              <a:fillRect t="-11566" r="-283" b="-7346"/>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Roll Gap Geometry and Draft</a:t>
            </a:r>
          </a:p>
        </p:txBody>
      </p:sp>
      <p:sp>
        <p:nvSpPr>
          <p:cNvPr id="8" name="TextBox 8"/>
          <p:cNvSpPr txBox="1"/>
          <p:nvPr/>
        </p:nvSpPr>
        <p:spPr>
          <a:xfrm>
            <a:off x="341733" y="1436263"/>
            <a:ext cx="17592193" cy="2676856"/>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A metal strip of entry thickness </a:t>
            </a:r>
            <a:r>
              <a:rPr lang="en-US" sz="3000" i="1" spc="-150">
                <a:solidFill>
                  <a:srgbClr val="2E2A27"/>
                </a:solidFill>
                <a:latin typeface="Poppins Italics"/>
                <a:ea typeface="Poppins Italics"/>
                <a:cs typeface="Poppins Italics"/>
                <a:sym typeface="Poppins Italics"/>
              </a:rPr>
              <a:t>ho​</a:t>
            </a:r>
            <a:r>
              <a:rPr lang="en-US" sz="3000" spc="-150">
                <a:solidFill>
                  <a:srgbClr val="2E2A27"/>
                </a:solidFill>
                <a:latin typeface="Poppins"/>
                <a:ea typeface="Poppins"/>
                <a:cs typeface="Poppins"/>
                <a:sym typeface="Poppins"/>
              </a:rPr>
              <a:t> enters the roll gap and exits at reduced thickness </a:t>
            </a:r>
            <a:r>
              <a:rPr lang="en-US" sz="3000" i="1" spc="-150">
                <a:solidFill>
                  <a:srgbClr val="2E2A27"/>
                </a:solidFill>
                <a:latin typeface="Poppins Italics"/>
                <a:ea typeface="Poppins Italics"/>
                <a:cs typeface="Poppins Italics"/>
                <a:sym typeface="Poppins Italics"/>
              </a:rPr>
              <a:t>hf ​,</a:t>
            </a:r>
            <a:r>
              <a:rPr lang="en-US" sz="3000" spc="-150">
                <a:solidFill>
                  <a:srgbClr val="2E2A27"/>
                </a:solidFill>
                <a:latin typeface="Poppins"/>
                <a:ea typeface="Poppins"/>
                <a:cs typeface="Poppins"/>
                <a:sym typeface="Poppins"/>
              </a:rPr>
              <a:t> driven by a pair of rolls of radius R, each independently powered by an electric motor</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Draft, d: </a:t>
            </a:r>
            <a:r>
              <a:rPr lang="en-US" sz="3000" spc="-150">
                <a:solidFill>
                  <a:srgbClr val="2E2A27"/>
                </a:solidFill>
                <a:latin typeface="Poppins"/>
                <a:ea typeface="Poppins"/>
                <a:cs typeface="Poppins"/>
                <a:sym typeface="Poppins"/>
              </a:rPr>
              <a:t>It is the reduction in thickness produced by a rolling pass: </a:t>
            </a:r>
            <a:r>
              <a:rPr lang="en-US" sz="3000" i="1" spc="-150">
                <a:solidFill>
                  <a:srgbClr val="AC1F25"/>
                </a:solidFill>
                <a:latin typeface="Poppins Italics"/>
                <a:ea typeface="Poppins Italics"/>
                <a:cs typeface="Poppins Italics"/>
                <a:sym typeface="Poppins Italics"/>
              </a:rPr>
              <a:t>d=ho−hf </a:t>
            </a:r>
            <a:r>
              <a:rPr lang="en-US" sz="3000" i="1" spc="-150">
                <a:solidFill>
                  <a:srgbClr val="2E2A27"/>
                </a:solidFill>
                <a:latin typeface="Poppins Italics"/>
                <a:ea typeface="Poppins Italics"/>
                <a:cs typeface="Poppins Italics"/>
                <a:sym typeface="Poppins Italics"/>
              </a:rPr>
              <a:t> </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Notation: </a:t>
            </a:r>
            <a:r>
              <a:rPr lang="en-US" sz="3000" i="1" spc="-150">
                <a:solidFill>
                  <a:srgbClr val="2E2A27"/>
                </a:solidFill>
                <a:latin typeface="Poppins Italics"/>
                <a:ea typeface="Poppins Italics"/>
                <a:cs typeface="Poppins Italics"/>
                <a:sym typeface="Poppins Italics"/>
              </a:rPr>
              <a:t>ho </a:t>
            </a:r>
            <a:r>
              <a:rPr lang="en-US" sz="3000" spc="-150">
                <a:solidFill>
                  <a:srgbClr val="2E2A27"/>
                </a:solidFill>
                <a:latin typeface="Poppins"/>
                <a:ea typeface="Poppins"/>
                <a:cs typeface="Poppins"/>
                <a:sym typeface="Poppins"/>
              </a:rPr>
              <a:t>= entry thickness, </a:t>
            </a:r>
            <a:r>
              <a:rPr lang="en-US" sz="3000" i="1" spc="-150">
                <a:solidFill>
                  <a:srgbClr val="2E2A27"/>
                </a:solidFill>
                <a:latin typeface="Poppins Italics"/>
                <a:ea typeface="Poppins Italics"/>
                <a:cs typeface="Poppins Italics"/>
                <a:sym typeface="Poppins Italics"/>
              </a:rPr>
              <a:t>hf </a:t>
            </a:r>
            <a:r>
              <a:rPr lang="en-US" sz="3000" spc="-150">
                <a:solidFill>
                  <a:srgbClr val="2E2A27"/>
                </a:solidFill>
                <a:latin typeface="Poppins"/>
                <a:ea typeface="Poppins"/>
                <a:cs typeface="Poppins"/>
                <a:sym typeface="Poppins"/>
              </a:rPr>
              <a:t>= exit thickness, </a:t>
            </a:r>
            <a:r>
              <a:rPr lang="en-US" sz="3000" i="1" spc="-150">
                <a:solidFill>
                  <a:srgbClr val="2E2A27"/>
                </a:solidFill>
                <a:latin typeface="Poppins Italics"/>
                <a:ea typeface="Poppins Italics"/>
                <a:cs typeface="Poppins Italics"/>
                <a:sym typeface="Poppins Italics"/>
              </a:rPr>
              <a:t>R</a:t>
            </a:r>
            <a:r>
              <a:rPr lang="en-US" sz="3000" spc="-150">
                <a:solidFill>
                  <a:srgbClr val="2E2A27"/>
                </a:solidFill>
                <a:latin typeface="Poppins"/>
                <a:ea typeface="Poppins"/>
                <a:cs typeface="Poppins"/>
                <a:sym typeface="Poppins"/>
              </a:rPr>
              <a:t> = roll radius, </a:t>
            </a:r>
            <a:r>
              <a:rPr lang="en-US" sz="3000" i="1" spc="-150">
                <a:solidFill>
                  <a:srgbClr val="2E2A27"/>
                </a:solidFill>
                <a:latin typeface="Poppins Italics"/>
                <a:ea typeface="Poppins Italics"/>
                <a:cs typeface="Poppins Italics"/>
                <a:sym typeface="Poppins Italics"/>
              </a:rPr>
              <a:t>L</a:t>
            </a:r>
            <a:r>
              <a:rPr lang="en-US" sz="3000" spc="-150">
                <a:solidFill>
                  <a:srgbClr val="2E2A27"/>
                </a:solidFill>
                <a:latin typeface="Poppins"/>
                <a:ea typeface="Poppins"/>
                <a:cs typeface="Poppins"/>
                <a:sym typeface="Poppins"/>
              </a:rPr>
              <a:t> = roll-strip contact length, </a:t>
            </a:r>
            <a:r>
              <a:rPr lang="en-US" sz="3000" i="1" spc="-150">
                <a:solidFill>
                  <a:srgbClr val="2E2A27"/>
                </a:solidFill>
                <a:latin typeface="Poppins Italics"/>
                <a:ea typeface="Poppins Italics"/>
                <a:cs typeface="Poppins Italics"/>
                <a:sym typeface="Poppins Italics"/>
              </a:rPr>
              <a:t>w</a:t>
            </a:r>
            <a:r>
              <a:rPr lang="en-US" sz="3000" spc="-150">
                <a:solidFill>
                  <a:srgbClr val="2E2A27"/>
                </a:solidFill>
                <a:latin typeface="Poppins"/>
                <a:ea typeface="Poppins"/>
                <a:cs typeface="Poppins"/>
                <a:sym typeface="Poppins"/>
              </a:rPr>
              <a:t> = strip width.</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0" name="TextBox 10"/>
          <p:cNvSpPr txBox="1"/>
          <p:nvPr/>
        </p:nvSpPr>
        <p:spPr>
          <a:xfrm>
            <a:off x="2649418" y="8416838"/>
            <a:ext cx="12989165" cy="1262817"/>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6 : (a) Schematic illustration of the flat-rolling process. (b) Friction forces acting on strip surfaces. (c) Roll force F and torque T acting on the rolls. The width of the strip, w, usually increases during rolling</a:t>
            </a:r>
          </a:p>
        </p:txBody>
      </p:sp>
      <p:sp>
        <p:nvSpPr>
          <p:cNvPr id="11" name="Slide Number Placeholder 10">
            <a:extLst>
              <a:ext uri="{FF2B5EF4-FFF2-40B4-BE49-F238E27FC236}">
                <a16:creationId xmlns:a16="http://schemas.microsoft.com/office/drawing/2014/main" id="{85A795D2-5905-4BC0-A8D9-637D9C0689CF}"/>
              </a:ext>
            </a:extLst>
          </p:cNvPr>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Friction Force and the No-Slip Point</a:t>
            </a:r>
          </a:p>
        </p:txBody>
      </p:sp>
      <p:sp>
        <p:nvSpPr>
          <p:cNvPr id="7" name="TextBox 7"/>
          <p:cNvSpPr txBox="1"/>
          <p:nvPr/>
        </p:nvSpPr>
        <p:spPr>
          <a:xfrm>
            <a:off x="341733" y="1436263"/>
            <a:ext cx="17438734" cy="8011517"/>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Friction force: </a:t>
            </a:r>
            <a:r>
              <a:rPr lang="en-US" sz="3000" spc="-150">
                <a:solidFill>
                  <a:srgbClr val="2E2A27"/>
                </a:solidFill>
                <a:latin typeface="Poppins"/>
                <a:ea typeface="Poppins"/>
                <a:cs typeface="Poppins"/>
                <a:sym typeface="Poppins"/>
              </a:rPr>
              <a:t> It is the net frictional traction between the roll surface and the workpiece that pulls the strip into the roll gap.</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This friction-limited feeding sets an upper bound on how much draft can be taken in a single pass: </a:t>
            </a:r>
          </a:p>
          <a:p>
            <a:pPr algn="ctr">
              <a:lnSpc>
                <a:spcPts val="4200"/>
              </a:lnSpc>
            </a:pPr>
            <a:r>
              <a:rPr lang="en-US" sz="3000" i="1" spc="-150">
                <a:solidFill>
                  <a:srgbClr val="AC1F25"/>
                </a:solidFill>
                <a:latin typeface="Poppins Italics"/>
                <a:ea typeface="Poppins Italics"/>
                <a:cs typeface="Poppins Italics"/>
                <a:sym typeface="Poppins Italics"/>
              </a:rPr>
              <a:t>dmax= ho - hf = μ2R</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where </a:t>
            </a:r>
            <a:r>
              <a:rPr lang="en-US" sz="3000" i="1" spc="-150">
                <a:solidFill>
                  <a:srgbClr val="2E2A27"/>
                </a:solidFill>
                <a:latin typeface="Poppins Italics"/>
                <a:ea typeface="Poppins Italics"/>
                <a:cs typeface="Poppins Italics"/>
                <a:sym typeface="Poppins Italics"/>
              </a:rPr>
              <a:t>μ</a:t>
            </a:r>
            <a:r>
              <a:rPr lang="en-US" sz="3000" spc="-150">
                <a:solidFill>
                  <a:srgbClr val="2E2A27"/>
                </a:solidFill>
                <a:latin typeface="Poppins"/>
                <a:ea typeface="Poppins"/>
                <a:cs typeface="Poppins"/>
                <a:sym typeface="Poppins"/>
              </a:rPr>
              <a:t> is the coefficient of friction between roll and workpiece. A higher </a:t>
            </a:r>
            <a:r>
              <a:rPr lang="en-US" sz="3000" i="1" spc="-150">
                <a:solidFill>
                  <a:srgbClr val="2E2A27"/>
                </a:solidFill>
                <a:latin typeface="Poppins Italics"/>
                <a:ea typeface="Poppins Italics"/>
                <a:cs typeface="Poppins Italics"/>
                <a:sym typeface="Poppins Italics"/>
              </a:rPr>
              <a:t>μ</a:t>
            </a:r>
            <a:r>
              <a:rPr lang="en-US" sz="3000" spc="-150">
                <a:solidFill>
                  <a:srgbClr val="2E2A27"/>
                </a:solidFill>
                <a:latin typeface="Poppins"/>
                <a:ea typeface="Poppins"/>
                <a:cs typeface="Poppins"/>
                <a:sym typeface="Poppins"/>
              </a:rPr>
              <a:t> or a larger roll radius </a:t>
            </a:r>
            <a:r>
              <a:rPr lang="en-US" sz="3000" i="1" spc="-150">
                <a:solidFill>
                  <a:srgbClr val="2E2A27"/>
                </a:solidFill>
                <a:latin typeface="Poppins Italics"/>
                <a:ea typeface="Poppins Italics"/>
                <a:cs typeface="Poppins Italics"/>
                <a:sym typeface="Poppins Italics"/>
              </a:rPr>
              <a:t>R</a:t>
            </a:r>
            <a:r>
              <a:rPr lang="en-US" sz="3000" spc="-150">
                <a:solidFill>
                  <a:srgbClr val="2E2A27"/>
                </a:solidFill>
                <a:latin typeface="Poppins"/>
                <a:ea typeface="Poppins"/>
                <a:cs typeface="Poppins"/>
                <a:sym typeface="Poppins"/>
              </a:rPr>
              <a:t> permits a larger maximum draft. </a:t>
            </a:r>
          </a:p>
          <a:p>
            <a:pPr algn="just">
              <a:lnSpc>
                <a:spcPts val="4200"/>
              </a:lnSpc>
            </a:pPr>
            <a:r>
              <a:rPr lang="en-US" sz="3000" b="1" spc="-150">
                <a:solidFill>
                  <a:srgbClr val="AC1F25"/>
                </a:solidFill>
                <a:latin typeface="Poppins Bold"/>
                <a:ea typeface="Poppins Bold"/>
                <a:cs typeface="Poppins Bold"/>
                <a:sym typeface="Poppins Bold"/>
              </a:rPr>
              <a:t>No-Slip Point (Neutral Point): </a:t>
            </a:r>
            <a:r>
              <a:rPr lang="en-US" sz="3000" spc="-150">
                <a:solidFill>
                  <a:srgbClr val="2E2A27"/>
                </a:solidFill>
                <a:latin typeface="Poppins"/>
                <a:ea typeface="Poppins"/>
                <a:cs typeface="Poppins"/>
                <a:sym typeface="Poppins"/>
              </a:rPr>
              <a:t>Along the arc of contact, the roll surface velocity and the strip velocity are equal at exactly one point: the no-slip point. Before it, the roll moves faster than the strip; after it, the strip moves faster than the roll. Vital for:</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Friction Pivot: </a:t>
            </a:r>
            <a:r>
              <a:rPr lang="en-US" sz="3000" spc="-150">
                <a:solidFill>
                  <a:srgbClr val="2E2A27"/>
                </a:solidFill>
                <a:latin typeface="Poppins"/>
                <a:ea typeface="Poppins"/>
                <a:cs typeface="Poppins"/>
                <a:sym typeface="Poppins"/>
              </a:rPr>
              <a:t>Marks where friction reverses from pulling metal in to pushing it out.</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Peak Pressure: </a:t>
            </a:r>
            <a:r>
              <a:rPr lang="en-US" sz="3000" spc="-150">
                <a:solidFill>
                  <a:srgbClr val="2E2A27"/>
                </a:solidFill>
                <a:latin typeface="Poppins"/>
                <a:ea typeface="Poppins"/>
                <a:cs typeface="Poppins"/>
                <a:sym typeface="Poppins"/>
              </a:rPr>
              <a:t>Identifies the exact spot of maximum compressive roll force.</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Process Stability: </a:t>
            </a:r>
            <a:r>
              <a:rPr lang="en-US" sz="3000" spc="-150">
                <a:solidFill>
                  <a:srgbClr val="2E2A27"/>
                </a:solidFill>
                <a:latin typeface="Poppins"/>
                <a:ea typeface="Poppins"/>
                <a:cs typeface="Poppins"/>
                <a:sym typeface="Poppins"/>
              </a:rPr>
              <a:t>Prevents the mill from stalling by keeping the rolls gripped to the metal.</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Wear Reducer: </a:t>
            </a:r>
            <a:r>
              <a:rPr lang="en-US" sz="3000" spc="-150">
                <a:solidFill>
                  <a:srgbClr val="2E2A27"/>
                </a:solidFill>
                <a:latin typeface="Poppins"/>
                <a:ea typeface="Poppins"/>
                <a:cs typeface="Poppins"/>
                <a:sym typeface="Poppins"/>
              </a:rPr>
              <a:t>Minimizes relative sliding, reducing energy loss and roll wear.</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Gauge Control: </a:t>
            </a:r>
            <a:r>
              <a:rPr lang="en-US" sz="3000" spc="-150">
                <a:solidFill>
                  <a:srgbClr val="2E2A27"/>
                </a:solidFill>
                <a:latin typeface="Poppins"/>
                <a:ea typeface="Poppins"/>
                <a:cs typeface="Poppins"/>
                <a:sym typeface="Poppins"/>
              </a:rPr>
              <a:t>Dictates forward slip used to adjust strip thickness and tension.</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9" name="Slide Number Placeholder 8">
            <a:extLst>
              <a:ext uri="{FF2B5EF4-FFF2-40B4-BE49-F238E27FC236}">
                <a16:creationId xmlns:a16="http://schemas.microsoft.com/office/drawing/2014/main" id="{B1CC808C-826D-4BC8-83F6-38C902CAF9A1}"/>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4378144" y="1500171"/>
            <a:ext cx="9531711" cy="7758129"/>
          </a:xfrm>
          <a:custGeom>
            <a:avLst/>
            <a:gdLst/>
            <a:ahLst/>
            <a:cxnLst/>
            <a:rect l="l" t="t" r="r" b="b"/>
            <a:pathLst>
              <a:path w="9531711" h="7758129">
                <a:moveTo>
                  <a:pt x="0" y="0"/>
                </a:moveTo>
                <a:lnTo>
                  <a:pt x="9531712" y="0"/>
                </a:lnTo>
                <a:lnTo>
                  <a:pt x="9531712" y="7758129"/>
                </a:lnTo>
                <a:lnTo>
                  <a:pt x="0" y="7758129"/>
                </a:lnTo>
                <a:lnTo>
                  <a:pt x="0" y="0"/>
                </a:lnTo>
                <a:close/>
              </a:path>
            </a:pathLst>
          </a:custGeom>
          <a:blipFill>
            <a:blip r:embed="rId3"/>
            <a:stretch>
              <a:fillRect t="-12542"/>
            </a:stretch>
          </a:blipFill>
        </p:spPr>
      </p:sp>
      <p:sp>
        <p:nvSpPr>
          <p:cNvPr id="7" name="AutoShape 7"/>
          <p:cNvSpPr/>
          <p:nvPr/>
        </p:nvSpPr>
        <p:spPr>
          <a:xfrm flipV="1">
            <a:off x="9602237" y="4026378"/>
            <a:ext cx="1704762" cy="1101120"/>
          </a:xfrm>
          <a:prstGeom prst="line">
            <a:avLst/>
          </a:prstGeom>
          <a:ln w="38100" cap="flat">
            <a:solidFill>
              <a:srgbClr val="511117"/>
            </a:solidFill>
            <a:prstDash val="solid"/>
            <a:headEnd type="triangle" w="lg" len="med"/>
            <a:tailEnd type="none" w="sm" len="sm"/>
          </a:ln>
        </p:spPr>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No-Slip Point in Metal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id="10" name="TextBox 10"/>
          <p:cNvSpPr txBox="1"/>
          <p:nvPr/>
        </p:nvSpPr>
        <p:spPr>
          <a:xfrm>
            <a:off x="2649418" y="9433943"/>
            <a:ext cx="12989165"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7 : No-Slip Point in Metal Rolling</a:t>
            </a:r>
          </a:p>
        </p:txBody>
      </p:sp>
      <p:sp>
        <p:nvSpPr>
          <p:cNvPr id="11" name="Slide Number Placeholder 10">
            <a:extLst>
              <a:ext uri="{FF2B5EF4-FFF2-40B4-BE49-F238E27FC236}">
                <a16:creationId xmlns:a16="http://schemas.microsoft.com/office/drawing/2014/main" id="{6E3A747B-9022-4A3B-A64B-243536EA3B42}"/>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12906694" y="1521988"/>
            <a:ext cx="5144144" cy="6082452"/>
          </a:xfrm>
          <a:custGeom>
            <a:avLst/>
            <a:gdLst/>
            <a:ahLst/>
            <a:cxnLst/>
            <a:rect l="l" t="t" r="r" b="b"/>
            <a:pathLst>
              <a:path w="5144144" h="6082452">
                <a:moveTo>
                  <a:pt x="0" y="0"/>
                </a:moveTo>
                <a:lnTo>
                  <a:pt x="5144144" y="0"/>
                </a:lnTo>
                <a:lnTo>
                  <a:pt x="5144144" y="6082452"/>
                </a:lnTo>
                <a:lnTo>
                  <a:pt x="0" y="6082452"/>
                </a:lnTo>
                <a:lnTo>
                  <a:pt x="0" y="0"/>
                </a:lnTo>
                <a:close/>
              </a:path>
            </a:pathLst>
          </a:custGeom>
          <a:blipFill>
            <a:blip r:embed="rId3"/>
            <a:stretch>
              <a:fillRect l="-326645" t="-13130" r="-1210" b="-21857"/>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Roll Force and Torque</a:t>
            </a:r>
          </a:p>
        </p:txBody>
      </p:sp>
      <p:sp>
        <p:nvSpPr>
          <p:cNvPr id="8" name="TextBox 8"/>
          <p:cNvSpPr txBox="1"/>
          <p:nvPr/>
        </p:nvSpPr>
        <p:spPr>
          <a:xfrm>
            <a:off x="341733" y="1436263"/>
            <a:ext cx="12373028" cy="5877653"/>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Roll force, </a:t>
            </a:r>
            <a:r>
              <a:rPr lang="en-US" sz="3000" i="1" spc="-150">
                <a:solidFill>
                  <a:srgbClr val="2E2A27"/>
                </a:solidFill>
                <a:latin typeface="Poppins Italics"/>
                <a:ea typeface="Poppins Italics"/>
                <a:cs typeface="Poppins Italics"/>
                <a:sym typeface="Poppins Italics"/>
              </a:rPr>
              <a:t>F</a:t>
            </a:r>
            <a:r>
              <a:rPr lang="en-US" sz="3000" spc="-150">
                <a:solidFill>
                  <a:srgbClr val="2E2A27"/>
                </a:solidFill>
                <a:latin typeface="Poppins"/>
                <a:ea typeface="Poppins"/>
                <a:cs typeface="Poppins"/>
                <a:sym typeface="Poppins"/>
              </a:rPr>
              <a:t>, is the force the rolls apply perpendicular to the arc of contact to achieve the thickness reduction; torque, </a:t>
            </a:r>
            <a:r>
              <a:rPr lang="en-US" sz="3000" i="1" spc="-150">
                <a:solidFill>
                  <a:srgbClr val="2E2A27"/>
                </a:solidFill>
                <a:latin typeface="Poppins Italics"/>
                <a:ea typeface="Poppins Italics"/>
                <a:cs typeface="Poppins Italics"/>
                <a:sym typeface="Poppins Italics"/>
              </a:rPr>
              <a:t>T</a:t>
            </a:r>
            <a:r>
              <a:rPr lang="en-US" sz="3000" spc="-150">
                <a:solidFill>
                  <a:srgbClr val="2E2A27"/>
                </a:solidFill>
                <a:latin typeface="Poppins"/>
                <a:ea typeface="Poppins"/>
                <a:cs typeface="Poppins"/>
                <a:sym typeface="Poppins"/>
              </a:rPr>
              <a:t>, is the moment each roll's drive motor must supply to rotate the roll against this force.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Both act on each roll, and both must be accounted for in mill design, since roll force determines the stand's structural loading, and torque determines motor sizing</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High roll force causes the rolls to deflect and flatten elastically under load, which degrades control over the final strip thickness </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Controlling roll force is therefore a mill design and process planning problem.</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10" name="TextBox 10"/>
          <p:cNvSpPr txBox="1"/>
          <p:nvPr/>
        </p:nvSpPr>
        <p:spPr>
          <a:xfrm>
            <a:off x="13660617" y="7537765"/>
            <a:ext cx="3988706" cy="843783"/>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8 : Roll force F and torque T acting on the rolls. </a:t>
            </a:r>
          </a:p>
        </p:txBody>
      </p:sp>
      <p:sp>
        <p:nvSpPr>
          <p:cNvPr id="11" name="Slide Number Placeholder 10">
            <a:extLst>
              <a:ext uri="{FF2B5EF4-FFF2-40B4-BE49-F238E27FC236}">
                <a16:creationId xmlns:a16="http://schemas.microsoft.com/office/drawing/2014/main" id="{6C70ADB1-B211-46F9-9D86-4703F7461E88}"/>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Methods of Reducing Roll Force</a:t>
            </a:r>
          </a:p>
        </p:txBody>
      </p:sp>
      <p:sp>
        <p:nvSpPr>
          <p:cNvPr id="7" name="TextBox 7"/>
          <p:cNvSpPr txBox="1"/>
          <p:nvPr/>
        </p:nvSpPr>
        <p:spPr>
          <a:xfrm>
            <a:off x="341733" y="1436263"/>
            <a:ext cx="17576070" cy="5344187"/>
          </a:xfrm>
          <a:prstGeom prst="rect">
            <a:avLst/>
          </a:prstGeom>
        </p:spPr>
        <p:txBody>
          <a:bodyPr lIns="0" tIns="0" rIns="0" bIns="0" rtlCol="0" anchor="t">
            <a:spAutoFit/>
          </a:bodyPr>
          <a:lstStyle/>
          <a:p>
            <a:pPr marL="647700" lvl="1" indent="-323850" algn="just">
              <a:lnSpc>
                <a:spcPts val="4200"/>
              </a:lnSpc>
              <a:spcBef>
                <a:spcPct val="0"/>
              </a:spcBef>
              <a:buFont typeface="Arial"/>
              <a:buChar char="•"/>
            </a:pPr>
            <a:r>
              <a:rPr lang="en-US" sz="3000" spc="-150">
                <a:solidFill>
                  <a:srgbClr val="2E2A27"/>
                </a:solidFill>
                <a:latin typeface="Poppins"/>
                <a:ea typeface="Poppins"/>
                <a:cs typeface="Poppins"/>
                <a:sym typeface="Poppins"/>
              </a:rPr>
              <a:t>Roll force can be reduced by any of the following:</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Reducing friction at the roll-strip interface</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Using smaller-diameter rolls, which reduces contact area (this is the logic behind the four-high mill)</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Taking a smaller reduction (draft) per pass, which also reduces the contact area</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Rolling at elevated temperature, which lowers the material's flow stress</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Applying longitudinal tension to the strip during rolling</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Tension is especially important when rolling high-strength metals, which otherwise demand very high roll forces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Tension can be applied at the entry zone (back tension), the exit zone (front tension), or both</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id="9" name="Slide Number Placeholder 8">
            <a:extLst>
              <a:ext uri="{FF2B5EF4-FFF2-40B4-BE49-F238E27FC236}">
                <a16:creationId xmlns:a16="http://schemas.microsoft.com/office/drawing/2014/main" id="{E497F5D2-E2EA-4895-8BA8-0853765E61A3}"/>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3170084" y="3751103"/>
            <a:ext cx="11919367" cy="3885670"/>
          </a:xfrm>
          <a:custGeom>
            <a:avLst/>
            <a:gdLst/>
            <a:ahLst/>
            <a:cxnLst/>
            <a:rect l="l" t="t" r="r" b="b"/>
            <a:pathLst>
              <a:path w="11919367" h="3885670">
                <a:moveTo>
                  <a:pt x="0" y="0"/>
                </a:moveTo>
                <a:lnTo>
                  <a:pt x="11919367" y="0"/>
                </a:lnTo>
                <a:lnTo>
                  <a:pt x="11919367" y="3885669"/>
                </a:lnTo>
                <a:lnTo>
                  <a:pt x="0" y="3885669"/>
                </a:lnTo>
                <a:lnTo>
                  <a:pt x="0" y="0"/>
                </a:lnTo>
                <a:close/>
              </a:path>
            </a:pathLst>
          </a:custGeom>
          <a:blipFill>
            <a:blip r:embed="rId3"/>
            <a:stretch>
              <a:fillRect t="-24625" r="-182" b="-32031"/>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Roll Bending </a:t>
            </a:r>
          </a:p>
        </p:txBody>
      </p:sp>
      <p:sp>
        <p:nvSpPr>
          <p:cNvPr id="8" name="TextBox 8"/>
          <p:cNvSpPr txBox="1"/>
          <p:nvPr/>
        </p:nvSpPr>
        <p:spPr>
          <a:xfrm>
            <a:off x="341733" y="1436263"/>
            <a:ext cx="17576070" cy="2143390"/>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Roll bending is the </a:t>
            </a:r>
            <a:r>
              <a:rPr lang="en-US" sz="3000" spc="-150">
                <a:solidFill>
                  <a:srgbClr val="AC1F25"/>
                </a:solidFill>
                <a:latin typeface="Poppins"/>
                <a:ea typeface="Poppins"/>
                <a:cs typeface="Poppins"/>
                <a:sym typeface="Poppins"/>
              </a:rPr>
              <a:t>elastic deflection of the rolls under roll force.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A higher elastic modulus in the roll material means smaller deflection for the same roll force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Consequence: straight cylindrical rolls under load produce a strip that is thicker at the center than at the edges, since the rolls bow apart more in the middle</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10" name="TextBox 10"/>
          <p:cNvSpPr txBox="1"/>
          <p:nvPr/>
        </p:nvSpPr>
        <p:spPr>
          <a:xfrm>
            <a:off x="4436743" y="7741547"/>
            <a:ext cx="9414515"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9 : Bending of straight cylindrical rolls caused by roll forces.  </a:t>
            </a:r>
          </a:p>
        </p:txBody>
      </p:sp>
      <p:sp>
        <p:nvSpPr>
          <p:cNvPr id="11" name="Slide Number Placeholder 10">
            <a:extLst>
              <a:ext uri="{FF2B5EF4-FFF2-40B4-BE49-F238E27FC236}">
                <a16:creationId xmlns:a16="http://schemas.microsoft.com/office/drawing/2014/main" id="{21996D87-8647-4A43-9B4D-BAD61F9CCE2D}"/>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3225612" y="4646585"/>
            <a:ext cx="11836776" cy="4070518"/>
          </a:xfrm>
          <a:custGeom>
            <a:avLst/>
            <a:gdLst/>
            <a:ahLst/>
            <a:cxnLst/>
            <a:rect l="l" t="t" r="r" b="b"/>
            <a:pathLst>
              <a:path w="11836776" h="4070518">
                <a:moveTo>
                  <a:pt x="0" y="0"/>
                </a:moveTo>
                <a:lnTo>
                  <a:pt x="11836776" y="0"/>
                </a:lnTo>
                <a:lnTo>
                  <a:pt x="11836776" y="4070518"/>
                </a:lnTo>
                <a:lnTo>
                  <a:pt x="0" y="4070518"/>
                </a:lnTo>
                <a:lnTo>
                  <a:pt x="0" y="0"/>
                </a:lnTo>
                <a:close/>
              </a:path>
            </a:pathLst>
          </a:custGeom>
          <a:blipFill>
            <a:blip r:embed="rId3"/>
            <a:stretch>
              <a:fillRect t="-19462" r="-881"/>
            </a:stretch>
          </a:blipFill>
        </p:spPr>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Camber to Fix Roll Bending</a:t>
            </a:r>
          </a:p>
        </p:txBody>
      </p:sp>
      <p:sp>
        <p:nvSpPr>
          <p:cNvPr id="8" name="TextBox 8"/>
          <p:cNvSpPr txBox="1"/>
          <p:nvPr/>
        </p:nvSpPr>
        <p:spPr>
          <a:xfrm>
            <a:off x="341733" y="1436263"/>
            <a:ext cx="17576070" cy="3210322"/>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Camber is a deliberate, slight barrel-shaped grinding of the roll (rolls ground with a larger diameter at the center) that compensates for the expected elastic bending under load.</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Under load, a cambered roll deflects into an effectively straight (uniform-gap) profile, producing a strip of uniform thickness across its width</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Camber is calculated for a specific expected roll force. Running the mill outside that force range reintroduces the thickness variation camber was meant to fix</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id="10" name="TextBox 10"/>
          <p:cNvSpPr txBox="1"/>
          <p:nvPr/>
        </p:nvSpPr>
        <p:spPr>
          <a:xfrm>
            <a:off x="4422510" y="8835872"/>
            <a:ext cx="9414515" cy="843783"/>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10 : Bending of rolls ground with camber, producing a strip with uniform thickness through the strip width.   </a:t>
            </a:r>
          </a:p>
        </p:txBody>
      </p:sp>
      <p:sp>
        <p:nvSpPr>
          <p:cNvPr id="11" name="Slide Number Placeholder 10">
            <a:extLst>
              <a:ext uri="{FF2B5EF4-FFF2-40B4-BE49-F238E27FC236}">
                <a16:creationId xmlns:a16="http://schemas.microsoft.com/office/drawing/2014/main" id="{9400B42B-67EF-4BA9-B918-F4BED5F1F0CA}"/>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1591722" cy="8544984"/>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Spreading is the increase in strip width that occurs as a workpiece passes through the rolls, in addition to the intended reduction in thickness.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In rolling plates and sheets with a high width-to-thickness ratio, the width stays effectively constant since the material has little room to flow sideways relative to its width</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With a low width-to-thickness ratio (e.g. a square cross-section), the width constraint is weaker and the material flows outward, this is spreading, the same effect seen when dough is rolled with a rolling pin</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Spreading increases with: (a) decreasing width-to-thickness ratio of the entering strip, (b) increasing friction, (c) decreasing ratio of roll radius to strip thickness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Spreading can be suppressed by placing vertical edge rolls in contact with the sides of the strip, physically constraining the lateral flow</a:t>
            </a: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Spreading</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grpSp>
        <p:nvGrpSpPr>
          <p:cNvPr id="9" name="Group 9"/>
          <p:cNvGrpSpPr/>
          <p:nvPr/>
        </p:nvGrpSpPr>
        <p:grpSpPr>
          <a:xfrm>
            <a:off x="12027751" y="3416275"/>
            <a:ext cx="5895343" cy="4670684"/>
            <a:chOff x="0" y="0"/>
            <a:chExt cx="7860457" cy="6227578"/>
          </a:xfrm>
        </p:grpSpPr>
        <p:sp>
          <p:nvSpPr>
            <p:cNvPr id="10" name="Freeform 10"/>
            <p:cNvSpPr/>
            <p:nvPr/>
          </p:nvSpPr>
          <p:spPr>
            <a:xfrm>
              <a:off x="0" y="0"/>
              <a:ext cx="7860457" cy="5015289"/>
            </a:xfrm>
            <a:custGeom>
              <a:avLst/>
              <a:gdLst/>
              <a:ahLst/>
              <a:cxnLst/>
              <a:rect l="l" t="t" r="r" b="b"/>
              <a:pathLst>
                <a:path w="7860457" h="5015289">
                  <a:moveTo>
                    <a:pt x="0" y="0"/>
                  </a:moveTo>
                  <a:lnTo>
                    <a:pt x="7860457" y="0"/>
                  </a:lnTo>
                  <a:lnTo>
                    <a:pt x="7860457" y="5015289"/>
                  </a:lnTo>
                  <a:lnTo>
                    <a:pt x="0" y="5015289"/>
                  </a:lnTo>
                  <a:lnTo>
                    <a:pt x="0" y="0"/>
                  </a:lnTo>
                  <a:close/>
                </a:path>
              </a:pathLst>
            </a:custGeom>
            <a:blipFill>
              <a:blip r:embed="rId3"/>
              <a:stretch>
                <a:fillRect r="-200" b="-13795"/>
              </a:stretch>
            </a:blipFill>
          </p:spPr>
        </p:sp>
        <p:sp>
          <p:nvSpPr>
            <p:cNvPr id="11" name="TextBox 11"/>
            <p:cNvSpPr txBox="1"/>
            <p:nvPr/>
          </p:nvSpPr>
          <p:spPr>
            <a:xfrm>
              <a:off x="0" y="5124760"/>
              <a:ext cx="7860457" cy="110281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11 :  Increase in strip width (spreading) in flat rolling. </a:t>
              </a:r>
            </a:p>
          </p:txBody>
        </p:sp>
      </p:grpSp>
      <p:sp>
        <p:nvSpPr>
          <p:cNvPr id="12" name="Slide Number Placeholder 11">
            <a:extLst>
              <a:ext uri="{FF2B5EF4-FFF2-40B4-BE49-F238E27FC236}">
                <a16:creationId xmlns:a16="http://schemas.microsoft.com/office/drawing/2014/main" id="{A614E380-1F0E-439B-88A7-35A5B8CEB908}"/>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7732587" cy="4810721"/>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Hot rolling is the initial breakdown of cast material into wrought form, carried out at a temperature high enough to permit large plastic deformation without cracking.</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Converts the </a:t>
            </a:r>
            <a:r>
              <a:rPr lang="en-US" sz="3000" spc="-150">
                <a:solidFill>
                  <a:srgbClr val="AC1F25"/>
                </a:solidFill>
                <a:latin typeface="Poppins"/>
                <a:ea typeface="Poppins"/>
                <a:cs typeface="Poppins"/>
                <a:sym typeface="Poppins"/>
              </a:rPr>
              <a:t>cast structure</a:t>
            </a:r>
            <a:r>
              <a:rPr lang="en-US" sz="3000" spc="-150">
                <a:solidFill>
                  <a:srgbClr val="2E2A27"/>
                </a:solidFill>
                <a:latin typeface="Poppins"/>
                <a:ea typeface="Poppins"/>
                <a:cs typeface="Poppins"/>
                <a:sym typeface="Poppins"/>
              </a:rPr>
              <a:t> into a </a:t>
            </a:r>
            <a:r>
              <a:rPr lang="en-US" sz="3000" spc="-150">
                <a:solidFill>
                  <a:srgbClr val="AC1F25"/>
                </a:solidFill>
                <a:latin typeface="Poppins"/>
                <a:ea typeface="Poppins"/>
                <a:cs typeface="Poppins"/>
                <a:sym typeface="Poppins"/>
              </a:rPr>
              <a:t>wrought structure</a:t>
            </a:r>
            <a:r>
              <a:rPr lang="en-US" sz="3000" spc="-150">
                <a:solidFill>
                  <a:srgbClr val="2E2A27"/>
                </a:solidFill>
                <a:latin typeface="Poppins"/>
                <a:ea typeface="Poppins"/>
                <a:cs typeface="Poppins"/>
                <a:sym typeface="Poppins"/>
              </a:rPr>
              <a:t>, characterized by finer, more uniform grains and higher ductility</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Mechanism:</a:t>
            </a:r>
            <a:r>
              <a:rPr lang="en-US" sz="3000" spc="-150">
                <a:solidFill>
                  <a:srgbClr val="2E2A27"/>
                </a:solidFill>
                <a:latin typeface="Poppins"/>
                <a:ea typeface="Poppins"/>
                <a:cs typeface="Poppins"/>
                <a:sym typeface="Poppins"/>
              </a:rPr>
              <a:t> hot working breaks up the brittle, columnar grain boundaries inherent to as-cast metal, and closes up internal porosity through plastic deformation. Recrystallization at the hot-working temperature then replaces the deformed grains with new, small, equiaxed grains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This is why hot rolling is standard practice for improving strength and ductility in cast ingots or continuous-cast slabs before any further processing</a:t>
            </a:r>
          </a:p>
        </p:txBody>
      </p:sp>
      <p:sp>
        <p:nvSpPr>
          <p:cNvPr id="7" name="Freeform 7"/>
          <p:cNvSpPr/>
          <p:nvPr/>
        </p:nvSpPr>
        <p:spPr>
          <a:xfrm>
            <a:off x="3335388" y="6418434"/>
            <a:ext cx="11745277" cy="3073940"/>
          </a:xfrm>
          <a:custGeom>
            <a:avLst/>
            <a:gdLst/>
            <a:ahLst/>
            <a:cxnLst/>
            <a:rect l="l" t="t" r="r" b="b"/>
            <a:pathLst>
              <a:path w="11745277" h="3073940">
                <a:moveTo>
                  <a:pt x="0" y="0"/>
                </a:moveTo>
                <a:lnTo>
                  <a:pt x="11745277" y="0"/>
                </a:lnTo>
                <a:lnTo>
                  <a:pt x="11745277" y="3073940"/>
                </a:lnTo>
                <a:lnTo>
                  <a:pt x="0" y="3073940"/>
                </a:lnTo>
                <a:lnTo>
                  <a:pt x="0" y="0"/>
                </a:lnTo>
                <a:close/>
              </a:path>
            </a:pathLst>
          </a:custGeom>
          <a:blipFill>
            <a:blip r:embed="rId3"/>
            <a:stretch>
              <a:fillRect l="-1667" t="-17243" b="-24636"/>
            </a:stretch>
          </a:blipFill>
        </p:spPr>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Flat Rolling Practice: Hot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10" name="TextBox 10"/>
          <p:cNvSpPr txBox="1"/>
          <p:nvPr/>
        </p:nvSpPr>
        <p:spPr>
          <a:xfrm>
            <a:off x="2244029" y="9612980"/>
            <a:ext cx="13927995"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12 :  Changes in the grain structure of cast or of large-grain wrought metals during hot rolling. </a:t>
            </a:r>
          </a:p>
        </p:txBody>
      </p:sp>
      <p:sp>
        <p:nvSpPr>
          <p:cNvPr id="11" name="Slide Number Placeholder 10">
            <a:extLst>
              <a:ext uri="{FF2B5EF4-FFF2-40B4-BE49-F238E27FC236}">
                <a16:creationId xmlns:a16="http://schemas.microsoft.com/office/drawing/2014/main" id="{59C419AC-7B95-41CD-A856-DE9093AE839B}"/>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graphicFrame>
        <p:nvGraphicFramePr>
          <p:cNvPr id="6" name="Table 6"/>
          <p:cNvGraphicFramePr>
            <a:graphicFrameLocks noGrp="1"/>
          </p:cNvGraphicFramePr>
          <p:nvPr/>
        </p:nvGraphicFramePr>
        <p:xfrm>
          <a:off x="484039" y="2684170"/>
          <a:ext cx="17547617" cy="3946791"/>
        </p:xfrm>
        <a:graphic>
          <a:graphicData uri="http://schemas.openxmlformats.org/drawingml/2006/table">
            <a:tbl>
              <a:tblPr/>
              <a:tblGrid>
                <a:gridCol w="2112717">
                  <a:extLst>
                    <a:ext uri="{9D8B030D-6E8A-4147-A177-3AD203B41FA5}">
                      <a16:colId xmlns:a16="http://schemas.microsoft.com/office/drawing/2014/main" val="20000"/>
                    </a:ext>
                  </a:extLst>
                </a:gridCol>
                <a:gridCol w="11637169">
                  <a:extLst>
                    <a:ext uri="{9D8B030D-6E8A-4147-A177-3AD203B41FA5}">
                      <a16:colId xmlns:a16="http://schemas.microsoft.com/office/drawing/2014/main" val="20001"/>
                    </a:ext>
                  </a:extLst>
                </a:gridCol>
                <a:gridCol w="3797731">
                  <a:extLst>
                    <a:ext uri="{9D8B030D-6E8A-4147-A177-3AD203B41FA5}">
                      <a16:colId xmlns:a16="http://schemas.microsoft.com/office/drawing/2014/main" val="20002"/>
                    </a:ext>
                  </a:extLst>
                </a:gridCol>
              </a:tblGrid>
              <a:tr h="981020">
                <a:tc>
                  <a:txBody>
                    <a:bodyPr/>
                    <a:lstStyle/>
                    <a:p>
                      <a:pPr algn="ctr">
                        <a:lnSpc>
                          <a:spcPts val="3080"/>
                        </a:lnSpc>
                        <a:defRPr/>
                      </a:pPr>
                      <a:r>
                        <a:rPr lang="en-US" sz="2200" b="1">
                          <a:solidFill>
                            <a:srgbClr val="000000"/>
                          </a:solidFill>
                          <a:latin typeface="Poppins Bold"/>
                          <a:ea typeface="Poppins Bold"/>
                          <a:cs typeface="Poppins Bold"/>
                          <a:sym typeface="Poppins Bold"/>
                        </a:rPr>
                        <a:t>Shape</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A8A29C"/>
                    </a:solidFill>
                  </a:tcPr>
                </a:tc>
                <a:tc>
                  <a:txBody>
                    <a:bodyPr/>
                    <a:lstStyle/>
                    <a:p>
                      <a:pPr algn="ctr">
                        <a:lnSpc>
                          <a:spcPts val="3080"/>
                        </a:lnSpc>
                        <a:defRPr/>
                      </a:pPr>
                      <a:r>
                        <a:rPr lang="en-US" sz="2200" b="1">
                          <a:solidFill>
                            <a:srgbClr val="000000"/>
                          </a:solidFill>
                          <a:latin typeface="Poppins Bold"/>
                          <a:ea typeface="Poppins Bold"/>
                          <a:cs typeface="Poppins Bold"/>
                          <a:sym typeface="Poppins Bold"/>
                        </a:rPr>
                        <a:t>Cross Section</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A8A29C"/>
                    </a:solidFill>
                  </a:tcPr>
                </a:tc>
                <a:tc>
                  <a:txBody>
                    <a:bodyPr/>
                    <a:lstStyle/>
                    <a:p>
                      <a:pPr algn="ctr">
                        <a:lnSpc>
                          <a:spcPts val="3080"/>
                        </a:lnSpc>
                        <a:defRPr/>
                      </a:pPr>
                      <a:r>
                        <a:rPr lang="en-US" sz="2200" b="1">
                          <a:solidFill>
                            <a:srgbClr val="000000"/>
                          </a:solidFill>
                          <a:latin typeface="Poppins Bold"/>
                          <a:ea typeface="Poppins Bold"/>
                          <a:cs typeface="Poppins Bold"/>
                          <a:sym typeface="Poppins Bold"/>
                        </a:rPr>
                        <a:t>Rolled Into</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A8A29C"/>
                    </a:solidFill>
                  </a:tcPr>
                </a:tc>
                <a:extLst>
                  <a:ext uri="{0D108BD9-81ED-4DB2-BD59-A6C34878D82A}">
                    <a16:rowId xmlns:a16="http://schemas.microsoft.com/office/drawing/2014/main" val="10000"/>
                  </a:ext>
                </a:extLst>
              </a:tr>
              <a:tr h="985903">
                <a:tc>
                  <a:txBody>
                    <a:bodyPr/>
                    <a:lstStyle/>
                    <a:p>
                      <a:pPr algn="ctr">
                        <a:lnSpc>
                          <a:spcPts val="3080"/>
                        </a:lnSpc>
                        <a:defRPr/>
                      </a:pPr>
                      <a:r>
                        <a:rPr lang="en-US" sz="2200">
                          <a:solidFill>
                            <a:srgbClr val="000000"/>
                          </a:solidFill>
                          <a:latin typeface="Poppins"/>
                          <a:ea typeface="Poppins"/>
                          <a:cs typeface="Poppins"/>
                          <a:sym typeface="Poppins"/>
                        </a:rPr>
                        <a:t>Bloom</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Arimo"/>
                          <a:ea typeface="Arimo"/>
                          <a:cs typeface="Arimo"/>
                          <a:sym typeface="Arimo"/>
                        </a:rPr>
                        <a:t>Square, ≥ 150 mm/side (≥ 6" × 6")</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Poppins"/>
                          <a:ea typeface="Poppins"/>
                          <a:cs typeface="Poppins"/>
                          <a:sym typeface="Poppins"/>
                        </a:rPr>
                        <a:t>Structural shapes</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extLst>
                  <a:ext uri="{0D108BD9-81ED-4DB2-BD59-A6C34878D82A}">
                    <a16:rowId xmlns:a16="http://schemas.microsoft.com/office/drawing/2014/main" val="10001"/>
                  </a:ext>
                </a:extLst>
              </a:tr>
              <a:tr h="981020">
                <a:tc>
                  <a:txBody>
                    <a:bodyPr/>
                    <a:lstStyle/>
                    <a:p>
                      <a:pPr algn="ctr">
                        <a:lnSpc>
                          <a:spcPts val="3080"/>
                        </a:lnSpc>
                        <a:defRPr/>
                      </a:pPr>
                      <a:r>
                        <a:rPr lang="en-US" sz="2200">
                          <a:solidFill>
                            <a:srgbClr val="000000"/>
                          </a:solidFill>
                          <a:latin typeface="Poppins"/>
                          <a:ea typeface="Poppins"/>
                          <a:cs typeface="Poppins"/>
                          <a:sym typeface="Poppins"/>
                        </a:rPr>
                        <a:t>Billet</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Poppins"/>
                          <a:ea typeface="Poppins"/>
                          <a:cs typeface="Poppins"/>
                          <a:sym typeface="Poppins"/>
                        </a:rPr>
                        <a:t>Square, smaller than bloom, ≥ 1.5" × 1.5"</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Poppins"/>
                          <a:ea typeface="Poppins"/>
                          <a:cs typeface="Poppins"/>
                          <a:sym typeface="Poppins"/>
                        </a:rPr>
                        <a:t>Bars, rods</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extLst>
                  <a:ext uri="{0D108BD9-81ED-4DB2-BD59-A6C34878D82A}">
                    <a16:rowId xmlns:a16="http://schemas.microsoft.com/office/drawing/2014/main" val="10002"/>
                  </a:ext>
                </a:extLst>
              </a:tr>
              <a:tr h="998848">
                <a:tc>
                  <a:txBody>
                    <a:bodyPr/>
                    <a:lstStyle/>
                    <a:p>
                      <a:pPr algn="ctr">
                        <a:lnSpc>
                          <a:spcPts val="3080"/>
                        </a:lnSpc>
                        <a:defRPr/>
                      </a:pPr>
                      <a:r>
                        <a:rPr lang="en-US" sz="2200">
                          <a:solidFill>
                            <a:srgbClr val="000000"/>
                          </a:solidFill>
                          <a:latin typeface="Poppins"/>
                          <a:ea typeface="Poppins"/>
                          <a:cs typeface="Poppins"/>
                          <a:sym typeface="Poppins"/>
                        </a:rPr>
                        <a:t>Slab</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Poppins"/>
                          <a:ea typeface="Poppins"/>
                          <a:cs typeface="Poppins"/>
                          <a:sym typeface="Poppins"/>
                        </a:rPr>
                        <a:t>Rectangular, ≥ 10" × 1.5"</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tc>
                  <a:txBody>
                    <a:bodyPr/>
                    <a:lstStyle/>
                    <a:p>
                      <a:pPr algn="ctr">
                        <a:lnSpc>
                          <a:spcPts val="3080"/>
                        </a:lnSpc>
                        <a:defRPr/>
                      </a:pPr>
                      <a:r>
                        <a:rPr lang="en-US" sz="2200">
                          <a:solidFill>
                            <a:srgbClr val="000000"/>
                          </a:solidFill>
                          <a:latin typeface="Poppins"/>
                          <a:ea typeface="Poppins"/>
                          <a:cs typeface="Poppins"/>
                          <a:sym typeface="Poppins"/>
                        </a:rPr>
                        <a:t>Plates, sheets, strip</a:t>
                      </a:r>
                      <a:endParaRPr lang="en-US" sz="1100"/>
                    </a:p>
                  </a:txBody>
                  <a:tcPr marL="190500" marR="190500" marT="190500" marB="190500" anchor="ctr">
                    <a:lnL w="38100" cap="flat" cmpd="sng" algn="ctr">
                      <a:solidFill>
                        <a:srgbClr val="AC1F25"/>
                      </a:solidFill>
                      <a:prstDash val="solid"/>
                      <a:round/>
                      <a:headEnd type="none" w="med" len="med"/>
                      <a:tailEnd type="none" w="med" len="med"/>
                    </a:lnL>
                    <a:lnR w="38100" cap="flat" cmpd="sng" algn="ctr">
                      <a:solidFill>
                        <a:srgbClr val="AC1F25"/>
                      </a:solidFill>
                      <a:prstDash val="solid"/>
                      <a:round/>
                      <a:headEnd type="none" w="med" len="med"/>
                      <a:tailEnd type="none" w="med" len="med"/>
                    </a:lnR>
                    <a:lnT w="38100" cap="flat" cmpd="sng" algn="ctr">
                      <a:solidFill>
                        <a:srgbClr val="AC1F25"/>
                      </a:solidFill>
                      <a:prstDash val="solid"/>
                      <a:round/>
                      <a:headEnd type="none" w="med" len="med"/>
                      <a:tailEnd type="none" w="med" len="med"/>
                    </a:lnT>
                    <a:lnB w="38100" cap="flat" cmpd="sng" algn="ctr">
                      <a:solidFill>
                        <a:srgbClr val="AC1F25"/>
                      </a:solidFill>
                      <a:prstDash val="solid"/>
                      <a:round/>
                      <a:headEnd type="none" w="med" len="med"/>
                      <a:tailEnd type="none" w="med" len="med"/>
                    </a:lnB>
                    <a:solidFill>
                      <a:srgbClr val="F6F3EE"/>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341733" y="1436263"/>
            <a:ext cx="17689923" cy="1076457"/>
          </a:xfrm>
          <a:prstGeom prst="rect">
            <a:avLst/>
          </a:prstGeom>
        </p:spPr>
        <p:txBody>
          <a:bodyPr lIns="0" tIns="0" rIns="0" bIns="0" rtlCol="0" anchor="t">
            <a:spAutoFit/>
          </a:bodyPr>
          <a:lstStyle/>
          <a:p>
            <a:pPr algn="just">
              <a:lnSpc>
                <a:spcPts val="4200"/>
              </a:lnSpc>
            </a:pPr>
            <a:r>
              <a:rPr lang="en-US" sz="3000" spc="-150">
                <a:solidFill>
                  <a:srgbClr val="2E2A27"/>
                </a:solidFill>
                <a:latin typeface="Poppins"/>
                <a:ea typeface="Poppins"/>
                <a:cs typeface="Poppins"/>
                <a:sym typeface="Poppins"/>
              </a:rPr>
              <a:t>The product of the first hot-rolling pass on an ingot or continuous cast is one of three intermediate shapes:</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Bloom, Billet, Slab</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10" name="TextBox 10"/>
          <p:cNvSpPr txBox="1"/>
          <p:nvPr/>
        </p:nvSpPr>
        <p:spPr>
          <a:xfrm>
            <a:off x="341733" y="7088162"/>
            <a:ext cx="17689923" cy="1076457"/>
          </a:xfrm>
          <a:prstGeom prst="rect">
            <a:avLst/>
          </a:prstGeom>
        </p:spPr>
        <p:txBody>
          <a:bodyPr lIns="0" tIns="0" rIns="0" bIns="0" rtlCol="0" anchor="t">
            <a:spAutoFit/>
          </a:bodyPr>
          <a:lstStyle/>
          <a:p>
            <a:pPr marL="647700" lvl="1" indent="-323850" algn="l">
              <a:lnSpc>
                <a:spcPts val="4200"/>
              </a:lnSpc>
              <a:buFont typeface="Arial"/>
              <a:buChar char="•"/>
            </a:pPr>
            <a:r>
              <a:rPr lang="en-US" sz="3000" spc="-150">
                <a:solidFill>
                  <a:srgbClr val="2E2A27"/>
                </a:solidFill>
                <a:latin typeface="Poppins"/>
                <a:ea typeface="Poppins"/>
                <a:cs typeface="Poppins"/>
                <a:sym typeface="Poppins"/>
              </a:rPr>
              <a:t>Before further rolling, the surface of blooms, billets, and slabs is conditioned, prepared for the next operation via scale removal, rough grinding, acid etching, or water blasting</a:t>
            </a:r>
          </a:p>
        </p:txBody>
      </p:sp>
      <p:sp>
        <p:nvSpPr>
          <p:cNvPr id="11" name="Slide Number Placeholder 10">
            <a:extLst>
              <a:ext uri="{FF2B5EF4-FFF2-40B4-BE49-F238E27FC236}">
                <a16:creationId xmlns:a16="http://schemas.microsoft.com/office/drawing/2014/main" id="{D74D5A26-6EDC-455F-BC24-2CC03470D02F}"/>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7732587" cy="8011517"/>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Cold Rolling: </a:t>
            </a:r>
            <a:r>
              <a:rPr lang="en-US" sz="3000" spc="-150">
                <a:solidFill>
                  <a:srgbClr val="2E2A27"/>
                </a:solidFill>
                <a:latin typeface="Poppins"/>
                <a:ea typeface="Poppins"/>
                <a:cs typeface="Poppins"/>
                <a:sym typeface="Poppins"/>
              </a:rPr>
              <a:t>Cold rolling is a rolling operation carried out at room temperature, typically applied after hot rolling when a better surface finish and tighter dimensional tolerance are required.</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Compared with hot rolling, cold rolling delivers:</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Better surface finish (no oxide scale forms at room temperature)</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Tighter dimensional tolerances</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Improved mechanical properties, via strain hardening</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Trade-off: </a:t>
            </a:r>
            <a:r>
              <a:rPr lang="en-US" sz="3000" spc="-150">
                <a:solidFill>
                  <a:srgbClr val="2E2A27"/>
                </a:solidFill>
                <a:latin typeface="Poppins"/>
                <a:ea typeface="Poppins"/>
                <a:cs typeface="Poppins"/>
                <a:sym typeface="Poppins"/>
              </a:rPr>
              <a:t>strain hardening increases strength but also increases the force required for further deformation. This is why cold rolling is typically the final finishing step rather than the initial breakdown step</a:t>
            </a:r>
          </a:p>
          <a:p>
            <a:pPr algn="just">
              <a:lnSpc>
                <a:spcPts val="4200"/>
              </a:lnSpc>
            </a:pPr>
            <a:r>
              <a:rPr lang="en-US" sz="3000" b="1" spc="-150">
                <a:solidFill>
                  <a:srgbClr val="AC1F25"/>
                </a:solidFill>
                <a:latin typeface="Poppins Bold"/>
                <a:ea typeface="Poppins Bold"/>
                <a:cs typeface="Poppins Bold"/>
                <a:sym typeface="Poppins Bold"/>
              </a:rPr>
              <a:t>Pack Rolling:</a:t>
            </a:r>
            <a:r>
              <a:rPr lang="en-US" sz="3000" spc="-150">
                <a:solidFill>
                  <a:srgbClr val="2E2A27"/>
                </a:solidFill>
                <a:latin typeface="Poppins"/>
                <a:ea typeface="Poppins"/>
                <a:cs typeface="Poppins"/>
                <a:sym typeface="Poppins"/>
              </a:rPr>
              <a:t> Pack rolling is a flat-rolling operation in which two or more layers of metal are rolled together as a stack, improving throughput per pass.</a:t>
            </a:r>
          </a:p>
          <a:p>
            <a:pPr marL="647700" lvl="1" indent="-323850" algn="just">
              <a:lnSpc>
                <a:spcPts val="4200"/>
              </a:lnSpc>
              <a:buFont typeface="Arial"/>
              <a:buChar char="•"/>
            </a:pPr>
            <a:r>
              <a:rPr lang="en-US" sz="3000" b="1" spc="-150">
                <a:solidFill>
                  <a:srgbClr val="2E2A27"/>
                </a:solidFill>
                <a:latin typeface="Poppins Bold"/>
                <a:ea typeface="Poppins Bold"/>
                <a:cs typeface="Poppins Bold"/>
                <a:sym typeface="Poppins Bold"/>
              </a:rPr>
              <a:t>Example:</a:t>
            </a:r>
            <a:r>
              <a:rPr lang="en-US" sz="3000" spc="-150">
                <a:solidFill>
                  <a:srgbClr val="2E2A27"/>
                </a:solidFill>
                <a:latin typeface="Poppins"/>
                <a:ea typeface="Poppins"/>
                <a:cs typeface="Poppins"/>
                <a:sym typeface="Poppins"/>
              </a:rPr>
              <a:t> </a:t>
            </a:r>
            <a:r>
              <a:rPr lang="en-US" sz="3000" spc="-150">
                <a:solidFill>
                  <a:srgbClr val="AC1F25"/>
                </a:solidFill>
                <a:latin typeface="Poppins"/>
                <a:ea typeface="Poppins"/>
                <a:cs typeface="Poppins"/>
                <a:sym typeface="Poppins"/>
              </a:rPr>
              <a:t>aluminum foil</a:t>
            </a:r>
            <a:r>
              <a:rPr lang="en-US" sz="3000" spc="-150">
                <a:solidFill>
                  <a:srgbClr val="2E2A27"/>
                </a:solidFill>
                <a:latin typeface="Poppins"/>
                <a:ea typeface="Poppins"/>
                <a:cs typeface="Poppins"/>
                <a:sym typeface="Poppins"/>
              </a:rPr>
              <a:t> is commonly pack rolled in two layers, then separated afterward. This is also why one side of finished aluminum foil is duller than the other; the side that faced another sheet in the pack develops a different surface finish than the side that faced a roll directly</a:t>
            </a:r>
          </a:p>
          <a:p>
            <a:pPr algn="just">
              <a:lnSpc>
                <a:spcPts val="4200"/>
              </a:lnSpc>
            </a:pPr>
            <a:endParaRPr lang="en-US" sz="3000" spc="-150">
              <a:solidFill>
                <a:srgbClr val="2E2A27"/>
              </a:solidFill>
              <a:latin typeface="Poppins"/>
              <a:ea typeface="Poppins"/>
              <a:cs typeface="Poppins"/>
              <a:sym typeface="Poppins"/>
            </a:endParaRP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Cold Rolling and Pack Rolling</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9" name="Slide Number Placeholder 8">
            <a:extLst>
              <a:ext uri="{FF2B5EF4-FFF2-40B4-BE49-F238E27FC236}">
                <a16:creationId xmlns:a16="http://schemas.microsoft.com/office/drawing/2014/main" id="{D0B10CD6-292D-40BE-97D1-277A2F5804E2}"/>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11762931" y="1677223"/>
            <a:ext cx="5700408" cy="5856051"/>
          </a:xfrm>
          <a:custGeom>
            <a:avLst/>
            <a:gdLst/>
            <a:ahLst/>
            <a:cxnLst/>
            <a:rect l="l" t="t" r="r" b="b"/>
            <a:pathLst>
              <a:path w="5700408" h="5856051">
                <a:moveTo>
                  <a:pt x="0" y="0"/>
                </a:moveTo>
                <a:lnTo>
                  <a:pt x="5700408" y="0"/>
                </a:lnTo>
                <a:lnTo>
                  <a:pt x="5700408" y="5856051"/>
                </a:lnTo>
                <a:lnTo>
                  <a:pt x="0" y="5856051"/>
                </a:lnTo>
                <a:lnTo>
                  <a:pt x="0" y="0"/>
                </a:lnTo>
                <a:close/>
              </a:path>
            </a:pathLst>
          </a:custGeom>
          <a:blipFill>
            <a:blip r:embed="rId3"/>
            <a:stretch>
              <a:fillRect l="-10067" t="-10193" r="-11955" b="-3366"/>
            </a:stretch>
          </a:blipFill>
        </p:spPr>
      </p:sp>
      <p:sp>
        <p:nvSpPr>
          <p:cNvPr id="7" name="TextBox 7"/>
          <p:cNvSpPr txBox="1"/>
          <p:nvPr/>
        </p:nvSpPr>
        <p:spPr>
          <a:xfrm>
            <a:off x="341733" y="1436263"/>
            <a:ext cx="10515862" cy="5344187"/>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Defects in rolled plate and sheet may be surface defects (scale, rust, scratches, gouges, pits, cracks) or internal structural defects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Beyond appearance, defects degrade strength, formability, and downstream manufacturing characteristics, a sheet with edge cracks will fail unpredictably in a later stamping or drawing operation</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Surface defects often trace back to inclusions and impurities in the original cast material, or to conditions in material preparation and rolling itself</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Defects in Flat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id="10" name="TextBox 10"/>
          <p:cNvSpPr txBox="1"/>
          <p:nvPr/>
        </p:nvSpPr>
        <p:spPr>
          <a:xfrm>
            <a:off x="11299704" y="7847599"/>
            <a:ext cx="6626863" cy="1681850"/>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13 :  Typical defects in flat rolling : (a) wavy edges; (b) zipper cracks in the center of the strip; (c) edge cracks; (d) alligatoring, and (e) center split.</a:t>
            </a:r>
          </a:p>
        </p:txBody>
      </p:sp>
      <p:sp>
        <p:nvSpPr>
          <p:cNvPr id="11" name="Slide Number Placeholder 10">
            <a:extLst>
              <a:ext uri="{FF2B5EF4-FFF2-40B4-BE49-F238E27FC236}">
                <a16:creationId xmlns:a16="http://schemas.microsoft.com/office/drawing/2014/main" id="{5F1F4F6C-47A8-4DCC-8BC8-49D2C1249462}"/>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7732587" cy="4810721"/>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Both trace back to roll bending: treating the roll as a beam under distributed load, the rolls deflect apart more at midspan than at the ends, so the </a:t>
            </a:r>
            <a:r>
              <a:rPr lang="en-US" sz="3000" spc="-150">
                <a:solidFill>
                  <a:srgbClr val="AC1F25"/>
                </a:solidFill>
                <a:latin typeface="Poppins"/>
                <a:ea typeface="Poppins"/>
                <a:cs typeface="Poppins"/>
                <a:sym typeface="Poppins"/>
              </a:rPr>
              <a:t>strip comes out thicker in the center and thinner at the edges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Thinner edges must elongate more than the thicker center to conserve volume along the rolling direction, which puts the edges in </a:t>
            </a:r>
            <a:r>
              <a:rPr lang="en-US" sz="3000" spc="-150">
                <a:solidFill>
                  <a:srgbClr val="AC1F25"/>
                </a:solidFill>
                <a:latin typeface="Poppins"/>
                <a:ea typeface="Poppins"/>
                <a:cs typeface="Poppins"/>
                <a:sym typeface="Poppins"/>
              </a:rPr>
              <a:t>longitudinal compression and the center in longitudinal tension</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Wavy edges:</a:t>
            </a:r>
            <a:r>
              <a:rPr lang="en-US" sz="3000" spc="-150">
                <a:solidFill>
                  <a:srgbClr val="2E2A27"/>
                </a:solidFill>
                <a:latin typeface="Poppins"/>
                <a:ea typeface="Poppins"/>
                <a:cs typeface="Poppins"/>
                <a:sym typeface="Poppins"/>
              </a:rPr>
              <a:t> the edge material, under compressive stress and thinner, creates a wavy appearance near the edges. The remedy is a correct camber matched to the operating roll force.</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Zipper cracks:</a:t>
            </a:r>
            <a:r>
              <a:rPr lang="en-US" sz="3000" spc="-150">
                <a:solidFill>
                  <a:srgbClr val="2E2A27"/>
                </a:solidFill>
                <a:latin typeface="Poppins"/>
                <a:ea typeface="Poppins"/>
                <a:cs typeface="Poppins"/>
                <a:sym typeface="Poppins"/>
              </a:rPr>
              <a:t> the center material cracks along the centerline of the strip due to the tensile force, same root cause, same remedy</a:t>
            </a: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Wavy Edges and Zipper Cracks</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9" name="Freeform 9"/>
          <p:cNvSpPr/>
          <p:nvPr/>
        </p:nvSpPr>
        <p:spPr>
          <a:xfrm>
            <a:off x="4531813" y="6418434"/>
            <a:ext cx="9224374" cy="2341394"/>
          </a:xfrm>
          <a:custGeom>
            <a:avLst/>
            <a:gdLst/>
            <a:ahLst/>
            <a:cxnLst/>
            <a:rect l="l" t="t" r="r" b="b"/>
            <a:pathLst>
              <a:path w="9224374" h="2341394">
                <a:moveTo>
                  <a:pt x="0" y="0"/>
                </a:moveTo>
                <a:lnTo>
                  <a:pt x="9224374" y="0"/>
                </a:lnTo>
                <a:lnTo>
                  <a:pt x="9224374" y="2341394"/>
                </a:lnTo>
                <a:lnTo>
                  <a:pt x="0" y="2341394"/>
                </a:lnTo>
                <a:lnTo>
                  <a:pt x="0" y="0"/>
                </a:lnTo>
                <a:close/>
              </a:path>
            </a:pathLst>
          </a:custGeom>
          <a:blipFill>
            <a:blip r:embed="rId3"/>
            <a:stretch>
              <a:fillRect l="-10087" t="-41338" r="-12179" b="-319186"/>
            </a:stretch>
          </a:blipFill>
        </p:spPr>
      </p:sp>
      <p:sp>
        <p:nvSpPr>
          <p:cNvPr id="10" name="TextBox 10"/>
          <p:cNvSpPr txBox="1"/>
          <p:nvPr/>
        </p:nvSpPr>
        <p:spPr>
          <a:xfrm>
            <a:off x="5830569" y="8864603"/>
            <a:ext cx="6626863"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14 :  Wavy edges and zipper cracks</a:t>
            </a:r>
          </a:p>
        </p:txBody>
      </p:sp>
      <p:sp>
        <p:nvSpPr>
          <p:cNvPr id="11" name="Slide Number Placeholder 10">
            <a:extLst>
              <a:ext uri="{FF2B5EF4-FFF2-40B4-BE49-F238E27FC236}">
                <a16:creationId xmlns:a16="http://schemas.microsoft.com/office/drawing/2014/main" id="{83F074CA-ADE8-4C2D-A7B0-F01DF1E6A9B9}"/>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7732587" cy="5877653"/>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Both trace back to non-homogeneous plastic deformation of metal across the width. </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As the strip passes through the rolls, its height decreases, and it elongates, but it also </a:t>
            </a:r>
            <a:r>
              <a:rPr lang="en-US" sz="3000" spc="-150">
                <a:solidFill>
                  <a:srgbClr val="AC1F25"/>
                </a:solidFill>
                <a:latin typeface="Poppins"/>
                <a:ea typeface="Poppins"/>
                <a:cs typeface="Poppins"/>
                <a:sym typeface="Poppins"/>
              </a:rPr>
              <a:t>spreads laterally. </a:t>
            </a:r>
            <a:r>
              <a:rPr lang="en-US" sz="3000" spc="-150">
                <a:solidFill>
                  <a:srgbClr val="2E2A27"/>
                </a:solidFill>
                <a:latin typeface="Poppins"/>
                <a:ea typeface="Poppins"/>
                <a:cs typeface="Poppins"/>
                <a:sym typeface="Poppins"/>
              </a:rPr>
              <a:t>This lateral spread is </a:t>
            </a:r>
            <a:r>
              <a:rPr lang="en-US" sz="3000" spc="-150">
                <a:solidFill>
                  <a:srgbClr val="AC1F25"/>
                </a:solidFill>
                <a:latin typeface="Poppins"/>
                <a:ea typeface="Poppins"/>
                <a:cs typeface="Poppins"/>
                <a:sym typeface="Poppins"/>
              </a:rPr>
              <a:t>resisted by friction and the adjacent material.</a:t>
            </a:r>
            <a:r>
              <a:rPr lang="en-US" sz="3000" spc="-150">
                <a:solidFill>
                  <a:srgbClr val="2E2A27"/>
                </a:solidFill>
                <a:latin typeface="Poppins"/>
                <a:ea typeface="Poppins"/>
                <a:cs typeface="Poppins"/>
                <a:sym typeface="Poppins"/>
              </a:rPr>
              <a:t> Resistance to lateral spread is strongest at the strip's centerline and weakest at the edges. Because the center resists spreading further, it </a:t>
            </a:r>
            <a:r>
              <a:rPr lang="en-US" sz="3000" spc="-150">
                <a:solidFill>
                  <a:srgbClr val="AC1F25"/>
                </a:solidFill>
                <a:latin typeface="Poppins"/>
                <a:ea typeface="Poppins"/>
                <a:cs typeface="Poppins"/>
                <a:sym typeface="Poppins"/>
              </a:rPr>
              <a:t>compensates by elongating </a:t>
            </a:r>
            <a:r>
              <a:rPr lang="en-US" sz="3000" spc="-150">
                <a:solidFill>
                  <a:srgbClr val="2E2A27"/>
                </a:solidFill>
                <a:latin typeface="Poppins"/>
                <a:ea typeface="Poppins"/>
                <a:cs typeface="Poppins"/>
                <a:sym typeface="Poppins"/>
              </a:rPr>
              <a:t>more in the rolling direction than the edges do.</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Edge cracks: </a:t>
            </a:r>
            <a:r>
              <a:rPr lang="en-US" sz="3000" spc="-150">
                <a:solidFill>
                  <a:srgbClr val="2E2A27"/>
                </a:solidFill>
                <a:latin typeface="Poppins"/>
                <a:ea typeface="Poppins"/>
                <a:cs typeface="Poppins"/>
                <a:sym typeface="Poppins"/>
              </a:rPr>
              <a:t>the edges, spreading more freely and elongating less, develop irregular strain that opens cracks along the free edge</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Center split:</a:t>
            </a:r>
            <a:r>
              <a:rPr lang="en-US" sz="3000" spc="-150">
                <a:solidFill>
                  <a:srgbClr val="2E2A27"/>
                </a:solidFill>
                <a:latin typeface="Poppins"/>
                <a:ea typeface="Poppins"/>
                <a:cs typeface="Poppins"/>
                <a:sym typeface="Poppins"/>
              </a:rPr>
              <a:t> in more severe cases, the same non-uniform flow opens a crack running along the strip's centerline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Because the quality of the edges of the sheet is important in sheet metal forming operations, edge defects in rolled sheets are often removed by shearing and slitting operations.</a:t>
            </a: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Edge Cracks and Center Split</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grpSp>
        <p:nvGrpSpPr>
          <p:cNvPr id="9" name="Group 9"/>
          <p:cNvGrpSpPr/>
          <p:nvPr/>
        </p:nvGrpSpPr>
        <p:grpSpPr>
          <a:xfrm>
            <a:off x="5004857" y="6962343"/>
            <a:ext cx="8278286" cy="3018903"/>
            <a:chOff x="0" y="0"/>
            <a:chExt cx="11037715" cy="4025205"/>
          </a:xfrm>
        </p:grpSpPr>
        <p:sp>
          <p:nvSpPr>
            <p:cNvPr id="10" name="TextBox 10"/>
            <p:cNvSpPr txBox="1"/>
            <p:nvPr/>
          </p:nvSpPr>
          <p:spPr>
            <a:xfrm>
              <a:off x="1100949" y="3481098"/>
              <a:ext cx="8835817" cy="544107"/>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15 :  Edge cracks and center split</a:t>
              </a:r>
            </a:p>
          </p:txBody>
        </p:sp>
        <p:sp>
          <p:nvSpPr>
            <p:cNvPr id="11" name="Freeform 11"/>
            <p:cNvSpPr/>
            <p:nvPr/>
          </p:nvSpPr>
          <p:spPr>
            <a:xfrm>
              <a:off x="0" y="0"/>
              <a:ext cx="5464686" cy="3135299"/>
            </a:xfrm>
            <a:custGeom>
              <a:avLst/>
              <a:gdLst/>
              <a:ahLst/>
              <a:cxnLst/>
              <a:rect l="l" t="t" r="r" b="b"/>
              <a:pathLst>
                <a:path w="5464686" h="3135299">
                  <a:moveTo>
                    <a:pt x="0" y="0"/>
                  </a:moveTo>
                  <a:lnTo>
                    <a:pt x="5464686" y="0"/>
                  </a:lnTo>
                  <a:lnTo>
                    <a:pt x="5464686" y="3135299"/>
                  </a:lnTo>
                  <a:lnTo>
                    <a:pt x="0" y="3135299"/>
                  </a:lnTo>
                  <a:lnTo>
                    <a:pt x="0" y="0"/>
                  </a:lnTo>
                  <a:close/>
                </a:path>
              </a:pathLst>
            </a:custGeom>
            <a:blipFill>
              <a:blip r:embed="rId3"/>
              <a:stretch>
                <a:fillRect l="-22370" t="-200992" r="-148776" b="-150836"/>
              </a:stretch>
            </a:blipFill>
          </p:spPr>
        </p:sp>
        <p:sp>
          <p:nvSpPr>
            <p:cNvPr id="12" name="Freeform 12"/>
            <p:cNvSpPr/>
            <p:nvPr/>
          </p:nvSpPr>
          <p:spPr>
            <a:xfrm>
              <a:off x="5901161" y="600376"/>
              <a:ext cx="5136554" cy="2534923"/>
            </a:xfrm>
            <a:custGeom>
              <a:avLst/>
              <a:gdLst/>
              <a:ahLst/>
              <a:cxnLst/>
              <a:rect l="l" t="t" r="r" b="b"/>
              <a:pathLst>
                <a:path w="5136554" h="2534923">
                  <a:moveTo>
                    <a:pt x="0" y="0"/>
                  </a:moveTo>
                  <a:lnTo>
                    <a:pt x="5136554" y="0"/>
                  </a:lnTo>
                  <a:lnTo>
                    <a:pt x="5136554" y="2534923"/>
                  </a:lnTo>
                  <a:lnTo>
                    <a:pt x="0" y="2534923"/>
                  </a:lnTo>
                  <a:lnTo>
                    <a:pt x="0" y="0"/>
                  </a:lnTo>
                  <a:close/>
                </a:path>
              </a:pathLst>
            </a:custGeom>
            <a:blipFill>
              <a:blip r:embed="rId3"/>
              <a:stretch>
                <a:fillRect l="-95891" t="-403893" r="-92576" b="-54947"/>
              </a:stretch>
            </a:blipFill>
          </p:spPr>
        </p:sp>
      </p:grpSp>
      <p:sp>
        <p:nvSpPr>
          <p:cNvPr id="13" name="Slide Number Placeholder 12">
            <a:extLst>
              <a:ext uri="{FF2B5EF4-FFF2-40B4-BE49-F238E27FC236}">
                <a16:creationId xmlns:a16="http://schemas.microsoft.com/office/drawing/2014/main" id="{3913BE12-9543-4612-8CFB-C3AC8D8CEA06}"/>
              </a:ext>
            </a:extLst>
          </p:cNvPr>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12773093" cy="8011517"/>
          </a:xfrm>
          <a:prstGeom prst="rect">
            <a:avLst/>
          </a:prstGeom>
        </p:spPr>
        <p:txBody>
          <a:bodyPr lIns="0" tIns="0" rIns="0" bIns="0" rtlCol="0" anchor="t">
            <a:spAutoFit/>
          </a:bodyPr>
          <a:lstStyle/>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Alligatoring:</a:t>
            </a:r>
            <a:r>
              <a:rPr lang="en-US" sz="3000" spc="-150">
                <a:solidFill>
                  <a:srgbClr val="2E2A27"/>
                </a:solidFill>
                <a:latin typeface="Poppins"/>
                <a:ea typeface="Poppins"/>
                <a:cs typeface="Poppins"/>
                <a:sym typeface="Poppins"/>
              </a:rPr>
              <a:t> rolling reduces height while increasing length, but friction at the roll-strip interface means the top and bottom surfaces elongate less than the material at the mid-thickness of the strip. In severe cases this differential elongation ruptures the strip along its length into an upper and lower half, resembling the open mouth of an alligator</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Folds:</a:t>
            </a:r>
            <a:r>
              <a:rPr lang="en-US" sz="3000" spc="-150">
                <a:solidFill>
                  <a:srgbClr val="2E2A27"/>
                </a:solidFill>
                <a:latin typeface="Poppins"/>
                <a:ea typeface="Poppins"/>
                <a:cs typeface="Poppins"/>
                <a:sym typeface="Poppins"/>
              </a:rPr>
              <a:t> occur when the reduction taken per pass is too low, the strip surface folds over on itself rather than deforming through its thickness</a:t>
            </a:r>
          </a:p>
          <a:p>
            <a:pPr marL="647700" lvl="1" indent="-323850" algn="just">
              <a:lnSpc>
                <a:spcPts val="4200"/>
              </a:lnSpc>
              <a:buFont typeface="Arial"/>
              <a:buChar char="•"/>
            </a:pPr>
            <a:r>
              <a:rPr lang="en-US" sz="3000" b="1" spc="-150">
                <a:solidFill>
                  <a:srgbClr val="AC1F25"/>
                </a:solidFill>
                <a:latin typeface="Poppins Bold"/>
                <a:ea typeface="Poppins Bold"/>
                <a:cs typeface="Poppins Bold"/>
                <a:sym typeface="Poppins Bold"/>
              </a:rPr>
              <a:t>Laminations:</a:t>
            </a:r>
            <a:r>
              <a:rPr lang="en-US" sz="3000" spc="-150">
                <a:solidFill>
                  <a:srgbClr val="2E2A27"/>
                </a:solidFill>
                <a:latin typeface="Poppins"/>
                <a:ea typeface="Poppins"/>
                <a:cs typeface="Poppins"/>
                <a:sym typeface="Poppins"/>
              </a:rPr>
              <a:t> internal layering caused by unwelded porosity or non-metallic inclusions carried over from the original ingot. If the ingot has piping containing oxidized or non-metallic material, that material cannot weld shut during rolling, and it elongates along with the sound metal, producing an internal layered defect</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Remedy for all three: discard the affected portion of the ingot and roll only sound material, these are defects of the starting stock, not correctable by adjusting the rolling pass itself</a:t>
            </a: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Alligatoring, Folds, Laminations</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grpSp>
        <p:nvGrpSpPr>
          <p:cNvPr id="9" name="Group 9"/>
          <p:cNvGrpSpPr/>
          <p:nvPr/>
        </p:nvGrpSpPr>
        <p:grpSpPr>
          <a:xfrm>
            <a:off x="13462046" y="3673581"/>
            <a:ext cx="4501242" cy="2939839"/>
            <a:chOff x="0" y="0"/>
            <a:chExt cx="6001656" cy="3919785"/>
          </a:xfrm>
        </p:grpSpPr>
        <p:sp>
          <p:nvSpPr>
            <p:cNvPr id="10" name="TextBox 10"/>
            <p:cNvSpPr txBox="1"/>
            <p:nvPr/>
          </p:nvSpPr>
          <p:spPr>
            <a:xfrm>
              <a:off x="0" y="3375678"/>
              <a:ext cx="6001656" cy="544107"/>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16 :  Aligatoring</a:t>
              </a:r>
            </a:p>
          </p:txBody>
        </p:sp>
        <p:sp>
          <p:nvSpPr>
            <p:cNvPr id="11" name="Freeform 11"/>
            <p:cNvSpPr/>
            <p:nvPr/>
          </p:nvSpPr>
          <p:spPr>
            <a:xfrm>
              <a:off x="0" y="0"/>
              <a:ext cx="6001656" cy="3225890"/>
            </a:xfrm>
            <a:custGeom>
              <a:avLst/>
              <a:gdLst/>
              <a:ahLst/>
              <a:cxnLst/>
              <a:rect l="l" t="t" r="r" b="b"/>
              <a:pathLst>
                <a:path w="6001656" h="3225890">
                  <a:moveTo>
                    <a:pt x="0" y="0"/>
                  </a:moveTo>
                  <a:lnTo>
                    <a:pt x="6001656" y="0"/>
                  </a:lnTo>
                  <a:lnTo>
                    <a:pt x="6001656" y="3225890"/>
                  </a:lnTo>
                  <a:lnTo>
                    <a:pt x="0" y="3225890"/>
                  </a:lnTo>
                  <a:lnTo>
                    <a:pt x="0" y="0"/>
                  </a:lnTo>
                  <a:close/>
                </a:path>
              </a:pathLst>
            </a:custGeom>
            <a:blipFill>
              <a:blip r:embed="rId3"/>
              <a:stretch>
                <a:fillRect l="-154353" t="-227098" r="-23296" b="-166760"/>
              </a:stretch>
            </a:blipFill>
          </p:spPr>
        </p:sp>
      </p:grpSp>
      <p:sp>
        <p:nvSpPr>
          <p:cNvPr id="12" name="Slide Number Placeholder 11">
            <a:extLst>
              <a:ext uri="{FF2B5EF4-FFF2-40B4-BE49-F238E27FC236}">
                <a16:creationId xmlns:a16="http://schemas.microsoft.com/office/drawing/2014/main" id="{F6B4E09C-62AC-45D2-AC0E-D80AA7D49E4F}"/>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8767946" y="1724479"/>
            <a:ext cx="8856049" cy="6838043"/>
          </a:xfrm>
          <a:custGeom>
            <a:avLst/>
            <a:gdLst/>
            <a:ahLst/>
            <a:cxnLst/>
            <a:rect l="l" t="t" r="r" b="b"/>
            <a:pathLst>
              <a:path w="8856049" h="6838043">
                <a:moveTo>
                  <a:pt x="0" y="0"/>
                </a:moveTo>
                <a:lnTo>
                  <a:pt x="8856049" y="0"/>
                </a:lnTo>
                <a:lnTo>
                  <a:pt x="8856049" y="6838042"/>
                </a:lnTo>
                <a:lnTo>
                  <a:pt x="0" y="6838042"/>
                </a:lnTo>
                <a:lnTo>
                  <a:pt x="0" y="0"/>
                </a:lnTo>
                <a:close/>
              </a:path>
            </a:pathLst>
          </a:custGeom>
          <a:blipFill>
            <a:blip r:embed="rId3"/>
            <a:stretch>
              <a:fillRect t="-5278" r="-531"/>
            </a:stretch>
          </a:blipFill>
        </p:spPr>
      </p:sp>
      <p:sp>
        <p:nvSpPr>
          <p:cNvPr id="7" name="TextBox 7"/>
          <p:cNvSpPr txBox="1"/>
          <p:nvPr/>
        </p:nvSpPr>
        <p:spPr>
          <a:xfrm>
            <a:off x="341733" y="1436263"/>
            <a:ext cx="7935622" cy="8544984"/>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Shape rolling (profile rolling) forms square or round cross-section stock into structural profiles, channels, I-beams, railroad rails, or solid bars by passing through a sequence of specially designed, contoured rolls.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Carried out at an elevated temperature for the primary structural sections above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Cold shape rolling is also practiced, typically starting from wire stock with various cross-sections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The following figure shows the Steps in the shape rolling of an I-beam part. Various other structural sections, such as channels and rails, are also rolled using this process.</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Shape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id="10" name="TextBox 10"/>
          <p:cNvSpPr txBox="1"/>
          <p:nvPr/>
        </p:nvSpPr>
        <p:spPr>
          <a:xfrm>
            <a:off x="8618024" y="8660683"/>
            <a:ext cx="9155892"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17 :  Stages in the shape rolling of an H-section part. </a:t>
            </a:r>
          </a:p>
        </p:txBody>
      </p:sp>
      <p:sp>
        <p:nvSpPr>
          <p:cNvPr id="11" name="Slide Number Placeholder 10">
            <a:extLst>
              <a:ext uri="{FF2B5EF4-FFF2-40B4-BE49-F238E27FC236}">
                <a16:creationId xmlns:a16="http://schemas.microsoft.com/office/drawing/2014/main" id="{359E6F21-C24A-4CE3-AD9F-97A3C2C22796}"/>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9026459" y="1926793"/>
            <a:ext cx="8747457" cy="6227438"/>
          </a:xfrm>
          <a:custGeom>
            <a:avLst/>
            <a:gdLst/>
            <a:ahLst/>
            <a:cxnLst/>
            <a:rect l="l" t="t" r="r" b="b"/>
            <a:pathLst>
              <a:path w="8747457" h="6227438">
                <a:moveTo>
                  <a:pt x="0" y="0"/>
                </a:moveTo>
                <a:lnTo>
                  <a:pt x="8747458" y="0"/>
                </a:lnTo>
                <a:lnTo>
                  <a:pt x="8747458" y="6227438"/>
                </a:lnTo>
                <a:lnTo>
                  <a:pt x="0" y="6227438"/>
                </a:lnTo>
                <a:lnTo>
                  <a:pt x="0" y="0"/>
                </a:lnTo>
                <a:close/>
              </a:path>
            </a:pathLst>
          </a:custGeom>
          <a:blipFill>
            <a:blip r:embed="rId3"/>
            <a:stretch>
              <a:fillRect/>
            </a:stretch>
          </a:blipFill>
        </p:spPr>
      </p:sp>
      <p:sp>
        <p:nvSpPr>
          <p:cNvPr id="7" name="TextBox 7"/>
          <p:cNvSpPr txBox="1"/>
          <p:nvPr/>
        </p:nvSpPr>
        <p:spPr>
          <a:xfrm>
            <a:off x="341733" y="1436263"/>
            <a:ext cx="8276292" cy="8011517"/>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Ring-rolling reduces the thickness of a ring-shaped workpiece while simultaneously increasing its diameter, producing seamless rings without the material loss of machining from solid stock.</a:t>
            </a:r>
          </a:p>
          <a:p>
            <a:pPr marL="647700" lvl="1" indent="-323850" algn="just">
              <a:lnSpc>
                <a:spcPts val="4200"/>
              </a:lnSpc>
              <a:buFont typeface="Arial"/>
              <a:buChar char="•"/>
            </a:pPr>
            <a:r>
              <a:rPr lang="en-US" sz="3000" b="1" spc="-150">
                <a:solidFill>
                  <a:srgbClr val="2E2A27"/>
                </a:solidFill>
                <a:latin typeface="Poppins Bold"/>
                <a:ea typeface="Poppins Bold"/>
                <a:cs typeface="Poppins Bold"/>
                <a:sym typeface="Poppins Bold"/>
              </a:rPr>
              <a:t>Roll set:</a:t>
            </a:r>
            <a:r>
              <a:rPr lang="en-US" sz="3000" spc="-150">
                <a:solidFill>
                  <a:srgbClr val="2E2A27"/>
                </a:solidFill>
                <a:latin typeface="Poppins"/>
                <a:ea typeface="Poppins"/>
                <a:cs typeface="Poppins"/>
                <a:sym typeface="Poppins"/>
              </a:rPr>
              <a:t> an edging roll, an idler roll, a rounding roll, and a driven main roll, working together on the ring's cross-section</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Thickness reduction and diameter increase are linked; reducing wall thickness necessarily grows the ring's outer diameter, since the material has to go somewhere</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Applications include bearing races, flanges, and gear blanks, wherever a seamless, radially uniform ring is required</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Ring-rolling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
        <p:nvSpPr>
          <p:cNvPr id="10" name="TextBox 10"/>
          <p:cNvSpPr txBox="1"/>
          <p:nvPr/>
        </p:nvSpPr>
        <p:spPr>
          <a:xfrm>
            <a:off x="8618024" y="8660683"/>
            <a:ext cx="9155892" cy="424749"/>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17 :  Ring-rolling</a:t>
            </a:r>
          </a:p>
        </p:txBody>
      </p:sp>
      <p:sp>
        <p:nvSpPr>
          <p:cNvPr id="11" name="Slide Number Placeholder 10">
            <a:extLst>
              <a:ext uri="{FF2B5EF4-FFF2-40B4-BE49-F238E27FC236}">
                <a16:creationId xmlns:a16="http://schemas.microsoft.com/office/drawing/2014/main" id="{32DC66BD-92F7-42FC-B415-F99CDFCF84FB}"/>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7363437" y="1521988"/>
            <a:ext cx="10287403" cy="7152960"/>
          </a:xfrm>
          <a:custGeom>
            <a:avLst/>
            <a:gdLst/>
            <a:ahLst/>
            <a:cxnLst/>
            <a:rect l="l" t="t" r="r" b="b"/>
            <a:pathLst>
              <a:path w="10287403" h="7152960">
                <a:moveTo>
                  <a:pt x="0" y="0"/>
                </a:moveTo>
                <a:lnTo>
                  <a:pt x="10287403" y="0"/>
                </a:lnTo>
                <a:lnTo>
                  <a:pt x="10287403" y="7152960"/>
                </a:lnTo>
                <a:lnTo>
                  <a:pt x="0" y="7152960"/>
                </a:lnTo>
                <a:lnTo>
                  <a:pt x="0" y="0"/>
                </a:lnTo>
                <a:close/>
              </a:path>
            </a:pathLst>
          </a:custGeom>
          <a:blipFill>
            <a:blip r:embed="rId3"/>
            <a:stretch>
              <a:fillRect/>
            </a:stretch>
          </a:blipFill>
        </p:spPr>
      </p:sp>
      <p:sp>
        <p:nvSpPr>
          <p:cNvPr id="7" name="TextBox 7"/>
          <p:cNvSpPr txBox="1"/>
          <p:nvPr/>
        </p:nvSpPr>
        <p:spPr>
          <a:xfrm>
            <a:off x="341733" y="1436263"/>
            <a:ext cx="6727711" cy="8544984"/>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 </a:t>
            </a:r>
            <a:r>
              <a:rPr lang="en-US" sz="3000" spc="-150">
                <a:solidFill>
                  <a:srgbClr val="2E2A27"/>
                </a:solidFill>
                <a:latin typeface="Poppins"/>
                <a:ea typeface="Poppins"/>
                <a:cs typeface="Poppins"/>
                <a:sym typeface="Poppins"/>
              </a:rPr>
              <a:t>Thread rolling is a cold-forming process that forms straight or tapered threads on a round rod or wire blank by pressing it between grooved dies, without removing any material.</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Two configurations:</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Reciprocating flat dies: threads form progressively with each stroke of a pair of flat dies</a:t>
            </a:r>
          </a:p>
          <a:p>
            <a:pPr marL="1295400" lvl="2" indent="-431800" algn="just">
              <a:lnSpc>
                <a:spcPts val="4200"/>
              </a:lnSpc>
              <a:buFont typeface="Arial"/>
              <a:buChar char="⚬"/>
            </a:pPr>
            <a:r>
              <a:rPr lang="en-US" sz="3000" spc="-150">
                <a:solidFill>
                  <a:srgbClr val="2E2A27"/>
                </a:solidFill>
                <a:latin typeface="Poppins"/>
                <a:ea typeface="Poppins"/>
                <a:cs typeface="Poppins"/>
                <a:sym typeface="Poppins"/>
              </a:rPr>
              <a:t>Two-roller dies: cylindrical dies rotate against the workpiece, forming the thread continuously</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High-volume and economical production method, standard for threaded fasteners (bolts, screws)</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Thread Rolling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
        <p:nvSpPr>
          <p:cNvPr id="10" name="TextBox 10"/>
          <p:cNvSpPr txBox="1"/>
          <p:nvPr/>
        </p:nvSpPr>
        <p:spPr>
          <a:xfrm>
            <a:off x="7363437" y="8660683"/>
            <a:ext cx="10561807" cy="1262817"/>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17 :  Thread-rolling processes : (a) and (b) reciprocating flat dies; </a:t>
            </a:r>
          </a:p>
          <a:p>
            <a:pPr algn="ctr">
              <a:lnSpc>
                <a:spcPts val="3359"/>
              </a:lnSpc>
            </a:pPr>
            <a:r>
              <a:rPr lang="en-US" sz="2400" i="1" spc="-120">
                <a:solidFill>
                  <a:srgbClr val="2E2A27"/>
                </a:solidFill>
                <a:latin typeface="Poppins Italics"/>
                <a:ea typeface="Poppins Italics"/>
                <a:cs typeface="Poppins Italics"/>
                <a:sym typeface="Poppins Italics"/>
              </a:rPr>
              <a:t>(c) two-roller dies. Threaded fasteners, such as bolts, are produced economically by these processes at high production rates. </a:t>
            </a:r>
          </a:p>
        </p:txBody>
      </p:sp>
      <p:sp>
        <p:nvSpPr>
          <p:cNvPr id="11" name="Slide Number Placeholder 10">
            <a:extLst>
              <a:ext uri="{FF2B5EF4-FFF2-40B4-BE49-F238E27FC236}">
                <a16:creationId xmlns:a16="http://schemas.microsoft.com/office/drawing/2014/main" id="{36EC6363-8F33-4F81-BBF5-B43F1AD094C5}"/>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TextBox 6"/>
          <p:cNvSpPr txBox="1"/>
          <p:nvPr/>
        </p:nvSpPr>
        <p:spPr>
          <a:xfrm>
            <a:off x="341733" y="1436263"/>
            <a:ext cx="8446024" cy="8544984"/>
          </a:xfrm>
          <a:prstGeom prst="rect">
            <a:avLst/>
          </a:prstGeom>
        </p:spPr>
        <p:txBody>
          <a:bodyPr lIns="0" tIns="0" rIns="0" bIns="0" rtlCol="0" anchor="t">
            <a:spAutoFit/>
          </a:bodyPr>
          <a:lstStyle/>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The distinction is in how the thread's grain flow is affected: machining cuts through the metal's existing grain structure, rolling deforms it around the thread profile without severing it.</a:t>
            </a:r>
          </a:p>
          <a:p>
            <a:pPr marL="647700" lvl="1" indent="-323850" algn="just">
              <a:lnSpc>
                <a:spcPts val="4200"/>
              </a:lnSpc>
              <a:buFont typeface="Arial"/>
              <a:buChar char="•"/>
            </a:pPr>
            <a:r>
              <a:rPr lang="en-US" sz="3000" b="1" spc="-150">
                <a:solidFill>
                  <a:srgbClr val="2E2A27"/>
                </a:solidFill>
                <a:latin typeface="Poppins Bold"/>
                <a:ea typeface="Poppins Bold"/>
                <a:cs typeface="Poppins Bold"/>
                <a:sym typeface="Poppins Bold"/>
              </a:rPr>
              <a:t>Machined thread:</a:t>
            </a:r>
            <a:r>
              <a:rPr lang="en-US" sz="3000" spc="-150">
                <a:solidFill>
                  <a:srgbClr val="2E2A27"/>
                </a:solidFill>
                <a:latin typeface="Poppins"/>
                <a:ea typeface="Poppins"/>
                <a:cs typeface="Poppins"/>
                <a:sym typeface="Poppins"/>
              </a:rPr>
              <a:t> grains are cut, exposing grain boundaries at the thread root, a natural stress-concentration and crack-initiation site</a:t>
            </a:r>
          </a:p>
          <a:p>
            <a:pPr marL="647700" lvl="1" indent="-323850" algn="just">
              <a:lnSpc>
                <a:spcPts val="4200"/>
              </a:lnSpc>
              <a:buFont typeface="Arial"/>
              <a:buChar char="•"/>
            </a:pPr>
            <a:r>
              <a:rPr lang="en-US" sz="3000" b="1" spc="-150">
                <a:solidFill>
                  <a:srgbClr val="2E2A27"/>
                </a:solidFill>
                <a:latin typeface="Poppins Bold"/>
                <a:ea typeface="Poppins Bold"/>
                <a:cs typeface="Poppins Bold"/>
                <a:sym typeface="Poppins Bold"/>
              </a:rPr>
              <a:t>Rolled thread:</a:t>
            </a:r>
            <a:r>
              <a:rPr lang="en-US" sz="3000" spc="-150">
                <a:solidFill>
                  <a:srgbClr val="2E2A27"/>
                </a:solidFill>
                <a:latin typeface="Poppins"/>
                <a:ea typeface="Poppins"/>
                <a:cs typeface="Poppins"/>
                <a:sym typeface="Poppins"/>
              </a:rPr>
              <a:t> grains flow continuously around the thread profile, following the thread contour. This continuous grain flow, combined with the cold working (strain hardening), gives rolled threads meaningfully higher fatigue strength than machined threads of the same nominal dimensions.</a:t>
            </a:r>
          </a:p>
        </p:txBody>
      </p:sp>
      <p:sp>
        <p:nvSpPr>
          <p:cNvPr id="7" name="TextBox 7"/>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Machined vs. Rolled Threads</a:t>
            </a:r>
          </a:p>
        </p:txBody>
      </p:sp>
      <p:sp>
        <p:nvSpPr>
          <p:cNvPr id="8" name="TextBox 8"/>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26</a:t>
            </a:r>
          </a:p>
        </p:txBody>
      </p:sp>
      <p:sp>
        <p:nvSpPr>
          <p:cNvPr id="9" name="TextBox 9"/>
          <p:cNvSpPr txBox="1"/>
          <p:nvPr/>
        </p:nvSpPr>
        <p:spPr>
          <a:xfrm>
            <a:off x="9144000" y="7622200"/>
            <a:ext cx="8909987" cy="1262817"/>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18 :  Comparison between machined and rolled thread : (a) common features of threads; (b) grain flow in machined and rolled thread; (c) close up view of grain flow</a:t>
            </a:r>
          </a:p>
        </p:txBody>
      </p:sp>
      <p:sp>
        <p:nvSpPr>
          <p:cNvPr id="10" name="Freeform 10"/>
          <p:cNvSpPr/>
          <p:nvPr/>
        </p:nvSpPr>
        <p:spPr>
          <a:xfrm>
            <a:off x="8994484" y="1607313"/>
            <a:ext cx="9088766" cy="5824387"/>
          </a:xfrm>
          <a:custGeom>
            <a:avLst/>
            <a:gdLst/>
            <a:ahLst/>
            <a:cxnLst/>
            <a:rect l="l" t="t" r="r" b="b"/>
            <a:pathLst>
              <a:path w="9088766" h="5824387">
                <a:moveTo>
                  <a:pt x="0" y="0"/>
                </a:moveTo>
                <a:lnTo>
                  <a:pt x="9088765" y="0"/>
                </a:lnTo>
                <a:lnTo>
                  <a:pt x="9088765" y="5824387"/>
                </a:lnTo>
                <a:lnTo>
                  <a:pt x="0" y="5824387"/>
                </a:lnTo>
                <a:lnTo>
                  <a:pt x="0" y="0"/>
                </a:lnTo>
                <a:close/>
              </a:path>
            </a:pathLst>
          </a:custGeom>
          <a:blipFill>
            <a:blip r:embed="rId3"/>
            <a:stretch>
              <a:fillRect t="-8501"/>
            </a:stretch>
          </a:blipFill>
        </p:spPr>
      </p:sp>
      <p:sp>
        <p:nvSpPr>
          <p:cNvPr id="11" name="Slide Number Placeholder 10">
            <a:extLst>
              <a:ext uri="{FF2B5EF4-FFF2-40B4-BE49-F238E27FC236}">
                <a16:creationId xmlns:a16="http://schemas.microsoft.com/office/drawing/2014/main" id="{FB30CCDD-3844-4F0C-AFDA-17C8FF21C7C7}"/>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353667"/>
            <a:chOff x="0" y="0"/>
            <a:chExt cx="4816593" cy="356521"/>
          </a:xfrm>
        </p:grpSpPr>
        <p:sp>
          <p:nvSpPr>
            <p:cNvPr id="3" name="Freeform 3"/>
            <p:cNvSpPr/>
            <p:nvPr/>
          </p:nvSpPr>
          <p:spPr>
            <a:xfrm>
              <a:off x="0" y="0"/>
              <a:ext cx="4816592" cy="356521"/>
            </a:xfrm>
            <a:custGeom>
              <a:avLst/>
              <a:gdLst/>
              <a:ahLst/>
              <a:cxnLst/>
              <a:rect l="l" t="t" r="r" b="b"/>
              <a:pathLst>
                <a:path w="4816592" h="356521">
                  <a:moveTo>
                    <a:pt x="0" y="0"/>
                  </a:moveTo>
                  <a:lnTo>
                    <a:pt x="4816592" y="0"/>
                  </a:lnTo>
                  <a:lnTo>
                    <a:pt x="4816592" y="356521"/>
                  </a:lnTo>
                  <a:lnTo>
                    <a:pt x="0" y="356521"/>
                  </a:lnTo>
                  <a:close/>
                </a:path>
              </a:pathLst>
            </a:custGeom>
            <a:solidFill>
              <a:srgbClr val="A8A29C"/>
            </a:solidFill>
          </p:spPr>
        </p:sp>
        <p:sp>
          <p:nvSpPr>
            <p:cNvPr id="4" name="TextBox 4"/>
            <p:cNvSpPr txBox="1"/>
            <p:nvPr/>
          </p:nvSpPr>
          <p:spPr>
            <a:xfrm>
              <a:off x="0" y="-57150"/>
              <a:ext cx="4816593" cy="41367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341733" y="267241"/>
            <a:ext cx="819184" cy="819184"/>
          </a:xfrm>
          <a:custGeom>
            <a:avLst/>
            <a:gdLst/>
            <a:ahLst/>
            <a:cxnLst/>
            <a:rect l="l" t="t" r="r" b="b"/>
            <a:pathLst>
              <a:path w="819184" h="819184">
                <a:moveTo>
                  <a:pt x="0" y="0"/>
                </a:moveTo>
                <a:lnTo>
                  <a:pt x="819184" y="0"/>
                </a:lnTo>
                <a:lnTo>
                  <a:pt x="819184" y="819184"/>
                </a:lnTo>
                <a:lnTo>
                  <a:pt x="0" y="819184"/>
                </a:lnTo>
                <a:lnTo>
                  <a:pt x="0" y="0"/>
                </a:lnTo>
                <a:close/>
              </a:path>
            </a:pathLst>
          </a:custGeom>
          <a:blipFill>
            <a:blip r:embed="rId2"/>
            <a:stretch>
              <a:fillRect/>
            </a:stretch>
          </a:blipFill>
        </p:spPr>
      </p:sp>
      <p:sp>
        <p:nvSpPr>
          <p:cNvPr id="6" name="Freeform 6"/>
          <p:cNvSpPr/>
          <p:nvPr/>
        </p:nvSpPr>
        <p:spPr>
          <a:xfrm>
            <a:off x="2236208" y="5203609"/>
            <a:ext cx="13815584" cy="3856640"/>
          </a:xfrm>
          <a:custGeom>
            <a:avLst/>
            <a:gdLst/>
            <a:ahLst/>
            <a:cxnLst/>
            <a:rect l="l" t="t" r="r" b="b"/>
            <a:pathLst>
              <a:path w="13815584" h="3856640">
                <a:moveTo>
                  <a:pt x="0" y="0"/>
                </a:moveTo>
                <a:lnTo>
                  <a:pt x="13815584" y="0"/>
                </a:lnTo>
                <a:lnTo>
                  <a:pt x="13815584" y="3856639"/>
                </a:lnTo>
                <a:lnTo>
                  <a:pt x="0" y="3856639"/>
                </a:lnTo>
                <a:lnTo>
                  <a:pt x="0" y="0"/>
                </a:lnTo>
                <a:close/>
              </a:path>
            </a:pathLst>
          </a:custGeom>
          <a:blipFill>
            <a:blip r:embed="rId3"/>
            <a:stretch>
              <a:fillRect l="-4316" t="-12019" r="-1649" b="-28848"/>
            </a:stretch>
          </a:blipFill>
        </p:spPr>
      </p:sp>
      <p:sp>
        <p:nvSpPr>
          <p:cNvPr id="7" name="TextBox 7"/>
          <p:cNvSpPr txBox="1"/>
          <p:nvPr/>
        </p:nvSpPr>
        <p:spPr>
          <a:xfrm>
            <a:off x="341733" y="1436263"/>
            <a:ext cx="17571109" cy="3743788"/>
          </a:xfrm>
          <a:prstGeom prst="rect">
            <a:avLst/>
          </a:prstGeom>
        </p:spPr>
        <p:txBody>
          <a:bodyPr lIns="0" tIns="0" rIns="0" bIns="0" rtlCol="0" anchor="t">
            <a:spAutoFit/>
          </a:bodyPr>
          <a:lstStyle/>
          <a:p>
            <a:pPr algn="just">
              <a:lnSpc>
                <a:spcPts val="4200"/>
              </a:lnSpc>
            </a:pPr>
            <a:r>
              <a:rPr lang="en-US" sz="3000" b="1" spc="-150">
                <a:solidFill>
                  <a:srgbClr val="AC1F25"/>
                </a:solidFill>
                <a:latin typeface="Poppins Bold"/>
                <a:ea typeface="Poppins Bold"/>
                <a:cs typeface="Poppins Bold"/>
                <a:sym typeface="Poppins Bold"/>
              </a:rPr>
              <a:t>Definition:</a:t>
            </a:r>
            <a:r>
              <a:rPr lang="en-US" sz="3000" spc="-150">
                <a:solidFill>
                  <a:srgbClr val="2E2A27"/>
                </a:solidFill>
                <a:latin typeface="Poppins"/>
                <a:ea typeface="Poppins"/>
                <a:cs typeface="Poppins"/>
                <a:sym typeface="Poppins"/>
              </a:rPr>
              <a:t> Rotary tube piercing is a hot-working process that produces long, thick-walled seamless pipe and tubing.</a:t>
            </a:r>
          </a:p>
          <a:p>
            <a:pPr marL="647700" lvl="1" indent="-323850" algn="just">
              <a:lnSpc>
                <a:spcPts val="4200"/>
              </a:lnSpc>
              <a:buFont typeface="Arial"/>
              <a:buChar char="•"/>
            </a:pPr>
            <a:r>
              <a:rPr lang="en-US" sz="3000" spc="-150">
                <a:solidFill>
                  <a:srgbClr val="AC1F25"/>
                </a:solidFill>
                <a:latin typeface="Poppins"/>
                <a:ea typeface="Poppins"/>
                <a:cs typeface="Poppins"/>
                <a:sym typeface="Poppins"/>
              </a:rPr>
              <a:t>Mechanism: </a:t>
            </a:r>
            <a:r>
              <a:rPr lang="en-US" sz="3000" spc="-150">
                <a:solidFill>
                  <a:srgbClr val="2E2A27"/>
                </a:solidFill>
                <a:latin typeface="Poppins"/>
                <a:ea typeface="Poppins"/>
                <a:cs typeface="Poppins"/>
                <a:sym typeface="Poppins"/>
              </a:rPr>
              <a:t>When a round bar is subjected to radial compressive forces, tensile stresses develop at the bar's center. Subjecting the bar to cyclic compressive stress, achieved by rotating it between angled rolls, repeatedly reopens and grows this central tensile zone until a continuous cavity forms along the bar's axis.</a:t>
            </a:r>
          </a:p>
          <a:p>
            <a:pPr marL="647700" lvl="1" indent="-323850" algn="just">
              <a:lnSpc>
                <a:spcPts val="4200"/>
              </a:lnSpc>
              <a:buFont typeface="Arial"/>
              <a:buChar char="•"/>
            </a:pPr>
            <a:r>
              <a:rPr lang="en-US" sz="3000" spc="-150">
                <a:solidFill>
                  <a:srgbClr val="2E2A27"/>
                </a:solidFill>
                <a:latin typeface="Poppins"/>
                <a:ea typeface="Poppins"/>
                <a:cs typeface="Poppins"/>
                <a:sym typeface="Poppins"/>
              </a:rPr>
              <a:t>That cavity becomes the bore of the seamless pipe, no welding, no seam.</a:t>
            </a:r>
          </a:p>
        </p:txBody>
      </p:sp>
      <p:sp>
        <p:nvSpPr>
          <p:cNvPr id="8" name="TextBox 8"/>
          <p:cNvSpPr txBox="1"/>
          <p:nvPr/>
        </p:nvSpPr>
        <p:spPr>
          <a:xfrm>
            <a:off x="1366123" y="453012"/>
            <a:ext cx="13421429" cy="523842"/>
          </a:xfrm>
          <a:prstGeom prst="rect">
            <a:avLst/>
          </a:prstGeom>
        </p:spPr>
        <p:txBody>
          <a:bodyPr lIns="0" tIns="0" rIns="0" bIns="0" rtlCol="0" anchor="t">
            <a:spAutoFit/>
          </a:bodyPr>
          <a:lstStyle/>
          <a:p>
            <a:pPr marL="0" lvl="0" indent="0" algn="l">
              <a:lnSpc>
                <a:spcPts val="3599"/>
              </a:lnSpc>
            </a:pPr>
            <a:r>
              <a:rPr lang="en-US" sz="3999" b="1" spc="-199">
                <a:solidFill>
                  <a:srgbClr val="2E2A27"/>
                </a:solidFill>
                <a:latin typeface="Poppins Semi-Bold"/>
                <a:ea typeface="Poppins Semi-Bold"/>
                <a:cs typeface="Poppins Semi-Bold"/>
                <a:sym typeface="Poppins Semi-Bold"/>
              </a:rPr>
              <a:t>Rotary Tube Piercing</a:t>
            </a:r>
          </a:p>
        </p:txBody>
      </p:sp>
      <p:sp>
        <p:nvSpPr>
          <p:cNvPr id="9" name="TextBox 9"/>
          <p:cNvSpPr txBox="1"/>
          <p:nvPr/>
        </p:nvSpPr>
        <p:spPr>
          <a:xfrm>
            <a:off x="17780467" y="9632030"/>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27</a:t>
            </a:r>
          </a:p>
        </p:txBody>
      </p:sp>
      <p:sp>
        <p:nvSpPr>
          <p:cNvPr id="10" name="TextBox 10"/>
          <p:cNvSpPr txBox="1"/>
          <p:nvPr/>
        </p:nvSpPr>
        <p:spPr>
          <a:xfrm>
            <a:off x="2236208" y="9191625"/>
            <a:ext cx="13815584" cy="843783"/>
          </a:xfrm>
          <a:prstGeom prst="rect">
            <a:avLst/>
          </a:prstGeom>
        </p:spPr>
        <p:txBody>
          <a:bodyPr lIns="0" tIns="0" rIns="0" bIns="0" rtlCol="0" anchor="t">
            <a:spAutoFit/>
          </a:bodyPr>
          <a:lstStyle/>
          <a:p>
            <a:pPr algn="ctr">
              <a:lnSpc>
                <a:spcPts val="3359"/>
              </a:lnSpc>
            </a:pPr>
            <a:r>
              <a:rPr lang="en-US" sz="2400" i="1" spc="-120">
                <a:solidFill>
                  <a:srgbClr val="2E2A27"/>
                </a:solidFill>
                <a:latin typeface="Poppins Italics"/>
                <a:ea typeface="Poppins Italics"/>
                <a:cs typeface="Poppins Italics"/>
                <a:sym typeface="Poppins Italics"/>
              </a:rPr>
              <a:t>Figure 18 :  Cavity formation in a solid, round bar and its utilization in the rotary tube-piercing process for making seamless pipe and tubing.</a:t>
            </a:r>
          </a:p>
        </p:txBody>
      </p:sp>
      <p:sp>
        <p:nvSpPr>
          <p:cNvPr id="11" name="Slide Number Placeholder 10">
            <a:extLst>
              <a:ext uri="{FF2B5EF4-FFF2-40B4-BE49-F238E27FC236}">
                <a16:creationId xmlns:a16="http://schemas.microsoft.com/office/drawing/2014/main" id="{281E6EEC-5380-427D-9828-BD6B9399B78E}"/>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2"/>
          <p:cNvSpPr txBox="1"/>
          <p:nvPr/>
        </p:nvSpPr>
        <p:spPr>
          <a:xfrm>
            <a:off x="1881004" y="4676741"/>
            <a:ext cx="14525991" cy="1076392"/>
          </a:xfrm>
          <a:prstGeom prst="rect">
            <a:avLst/>
          </a:prstGeom>
        </p:spPr>
        <p:txBody>
          <a:bodyPr lIns="0" tIns="0" rIns="0" bIns="0" rtlCol="0" anchor="t">
            <a:spAutoFit/>
          </a:bodyPr>
          <a:lstStyle/>
          <a:p>
            <a:pPr marL="0" lvl="0" indent="0" algn="ctr">
              <a:lnSpc>
                <a:spcPts val="7200"/>
              </a:lnSpc>
            </a:pPr>
            <a:r>
              <a:rPr lang="en-US" sz="8000" b="1" spc="-400">
                <a:solidFill>
                  <a:srgbClr val="2E2A27"/>
                </a:solidFill>
                <a:latin typeface="Poppins Bold"/>
                <a:ea typeface="Poppins Bold"/>
                <a:cs typeface="Poppins Bold"/>
                <a:sym typeface="Poppins Bold"/>
              </a:rPr>
              <a:t>Thank you</a:t>
            </a:r>
          </a:p>
        </p:txBody>
      </p:sp>
      <p:sp>
        <p:nvSpPr>
          <p:cNvPr id="3" name="Slide Number Placeholder 2">
            <a:extLst>
              <a:ext uri="{FF2B5EF4-FFF2-40B4-BE49-F238E27FC236}">
                <a16:creationId xmlns:a16="http://schemas.microsoft.com/office/drawing/2014/main" id="{16A92DB8-0641-4BF1-9BC5-EB295E19F861}"/>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3176</Words>
  <Application>Microsoft Office PowerPoint</Application>
  <PresentationFormat>Custom</PresentationFormat>
  <Paragraphs>233</Paragraphs>
  <Slides>28</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Poppins Semi-Bold</vt:lpstr>
      <vt:lpstr>Poppins Italics</vt:lpstr>
      <vt:lpstr>Arial</vt:lpstr>
      <vt:lpstr>Poppins</vt:lpstr>
      <vt:lpstr>Arimo</vt:lpstr>
      <vt:lpstr>Canva Sans</vt:lpstr>
      <vt:lpstr>Poppins Bold</vt:lpstr>
      <vt:lpstr>Calibri</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Rolling</dc:title>
  <dc:creator>Mostofa Habib</dc:creator>
  <cp:lastModifiedBy>2008016 - Mostofa Habib Fardin</cp:lastModifiedBy>
  <cp:revision>3</cp:revision>
  <dcterms:created xsi:type="dcterms:W3CDTF">2006-08-16T00:00:00Z</dcterms:created>
  <dcterms:modified xsi:type="dcterms:W3CDTF">2026-09-25T11:46:39Z</dcterms:modified>
  <dc:identifier>DAHSSPsF68I</dc:identifier>
</cp:coreProperties>
</file>